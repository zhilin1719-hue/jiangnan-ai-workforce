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5710a6bc1b4435" /><Relationship Type="http://schemas.openxmlformats.org/officeDocument/2006/relationships/extended-properties" Target="/docProps/app.xml" Id="Rb226a94216ed4f25" /><Relationship Type="http://schemas.openxmlformats.org/officeDocument/2006/relationships/officeDocument" Target="/ppt/presentation.xml" Id="R78d9608aed874d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05ba63e0984e71"/>
  </p:sldMasterIdLst>
  <p:notesMasterIdLst>
    <p:notesMasterId xmlns:r="http://schemas.openxmlformats.org/officeDocument/2006/relationships" r:id="R9a3a6425a4524c2c"/>
  </p:notesMasterIdLst>
  <p:sldIdLst>
    <p:sldId xmlns:r="http://schemas.openxmlformats.org/officeDocument/2006/relationships" id="256" r:id="R4281160c45044f08"/>
    <p:sldId xmlns:r="http://schemas.openxmlformats.org/officeDocument/2006/relationships" id="257" r:id="R8d999cd3daa241d1"/>
    <p:sldId xmlns:r="http://schemas.openxmlformats.org/officeDocument/2006/relationships" id="258" r:id="Rdc0ed13148e04c46"/>
    <p:sldId xmlns:r="http://schemas.openxmlformats.org/officeDocument/2006/relationships" id="259" r:id="R0bbee0a698194f87"/>
    <p:sldId xmlns:r="http://schemas.openxmlformats.org/officeDocument/2006/relationships" id="260" r:id="Rc1d91d8383794980"/>
    <p:sldId xmlns:r="http://schemas.openxmlformats.org/officeDocument/2006/relationships" id="261" r:id="R146b041f235246b5"/>
    <p:sldId xmlns:r="http://schemas.openxmlformats.org/officeDocument/2006/relationships" id="262" r:id="R56f7b279d7d94537"/>
    <p:sldId xmlns:r="http://schemas.openxmlformats.org/officeDocument/2006/relationships" id="263" r:id="Rc61de36b305c49ee"/>
    <p:sldId xmlns:r="http://schemas.openxmlformats.org/officeDocument/2006/relationships" id="264" r:id="Ra14997b7d7e54d1f"/>
    <p:sldId xmlns:r="http://schemas.openxmlformats.org/officeDocument/2006/relationships" id="265" r:id="R57a7857e22af4b1c"/>
    <p:sldId xmlns:r="http://schemas.openxmlformats.org/officeDocument/2006/relationships" id="266" r:id="R9b7cfdd3e97d4de1"/>
    <p:sldId xmlns:r="http://schemas.openxmlformats.org/officeDocument/2006/relationships" id="267" r:id="Rb2d2ff499b6b4ec8"/>
    <p:sldId xmlns:r="http://schemas.openxmlformats.org/officeDocument/2006/relationships" id="268" r:id="Rc2badde820f641df"/>
    <p:sldId xmlns:r="http://schemas.openxmlformats.org/officeDocument/2006/relationships" id="269" r:id="Rd6072aecf0d64c5c"/>
    <p:sldId xmlns:r="http://schemas.openxmlformats.org/officeDocument/2006/relationships" id="270" r:id="R5011b64668ac4a4b"/>
    <p:sldId xmlns:r="http://schemas.openxmlformats.org/officeDocument/2006/relationships" id="271" r:id="R64d4aa3cfce443e2"/>
    <p:sldId xmlns:r="http://schemas.openxmlformats.org/officeDocument/2006/relationships" id="272" r:id="R29d9a6a96c2549c3"/>
    <p:sldId xmlns:r="http://schemas.openxmlformats.org/officeDocument/2006/relationships" id="273" r:id="R3a4d7071fbe84ae3"/>
    <p:sldId xmlns:r="http://schemas.openxmlformats.org/officeDocument/2006/relationships" id="274" r:id="R291077cc83694b87"/>
    <p:sldId xmlns:r="http://schemas.openxmlformats.org/officeDocument/2006/relationships" id="275" r:id="R6921394596fe44ad"/>
    <p:sldId xmlns:r="http://schemas.openxmlformats.org/officeDocument/2006/relationships" id="276" r:id="R8f3f6f464850479f"/>
    <p:sldId xmlns:r="http://schemas.openxmlformats.org/officeDocument/2006/relationships" id="277" r:id="Rbee7adbf1c9a4bee"/>
    <p:sldId xmlns:r="http://schemas.openxmlformats.org/officeDocument/2006/relationships" id="278" r:id="R3e6bff2625d349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835fb927f74e5e" /><Relationship Type="http://schemas.openxmlformats.org/officeDocument/2006/relationships/slideMaster" Target="/ppt/slideMasters/slideMaster1.xml" Id="R6405ba63e0984e71" /><Relationship Type="http://schemas.openxmlformats.org/officeDocument/2006/relationships/notesMaster" Target="/ppt/notesMasters/notesMaster1.xml" Id="R9a3a6425a4524c2c" /><Relationship Type="http://schemas.openxmlformats.org/officeDocument/2006/relationships/presProps" Target="/ppt/presProps.xml" Id="Rd2bad46077834c40" /><Relationship Type="http://schemas.openxmlformats.org/officeDocument/2006/relationships/tableStyles" Target="/ppt/tableStyles.xml" Id="Rf93eafcb20a04516" /><Relationship Type="http://schemas.openxmlformats.org/officeDocument/2006/relationships/slide" Target="/ppt/slides/slide1.xml" Id="R4281160c45044f08" /><Relationship Type="http://schemas.openxmlformats.org/officeDocument/2006/relationships/slide" Target="/ppt/slides/slide2.xml" Id="R8d999cd3daa241d1" /><Relationship Type="http://schemas.openxmlformats.org/officeDocument/2006/relationships/slide" Target="/ppt/slides/slide3.xml" Id="Rdc0ed13148e04c46" /><Relationship Type="http://schemas.openxmlformats.org/officeDocument/2006/relationships/slide" Target="/ppt/slides/slide4.xml" Id="R0bbee0a698194f87" /><Relationship Type="http://schemas.openxmlformats.org/officeDocument/2006/relationships/slide" Target="/ppt/slides/slide5.xml" Id="Rc1d91d8383794980" /><Relationship Type="http://schemas.openxmlformats.org/officeDocument/2006/relationships/slide" Target="/ppt/slides/slide6.xml" Id="R146b041f235246b5" /><Relationship Type="http://schemas.openxmlformats.org/officeDocument/2006/relationships/slide" Target="/ppt/slides/slide7.xml" Id="R56f7b279d7d94537" /><Relationship Type="http://schemas.openxmlformats.org/officeDocument/2006/relationships/slide" Target="/ppt/slides/slide8.xml" Id="Rc61de36b305c49ee" /><Relationship Type="http://schemas.openxmlformats.org/officeDocument/2006/relationships/slide" Target="/ppt/slides/slide9.xml" Id="Ra14997b7d7e54d1f" /><Relationship Type="http://schemas.openxmlformats.org/officeDocument/2006/relationships/slide" Target="/ppt/slides/slide10.xml" Id="R57a7857e22af4b1c" /><Relationship Type="http://schemas.openxmlformats.org/officeDocument/2006/relationships/slide" Target="/ppt/slides/slide11.xml" Id="R9b7cfdd3e97d4de1" /><Relationship Type="http://schemas.openxmlformats.org/officeDocument/2006/relationships/slide" Target="/ppt/slides/slide12.xml" Id="Rb2d2ff499b6b4ec8" /><Relationship Type="http://schemas.openxmlformats.org/officeDocument/2006/relationships/slide" Target="/ppt/slides/slide13.xml" Id="Rc2badde820f641df" /><Relationship Type="http://schemas.openxmlformats.org/officeDocument/2006/relationships/slide" Target="/ppt/slides/slide14.xml" Id="Rd6072aecf0d64c5c" /><Relationship Type="http://schemas.openxmlformats.org/officeDocument/2006/relationships/slide" Target="/ppt/slides/slide15.xml" Id="R5011b64668ac4a4b" /><Relationship Type="http://schemas.openxmlformats.org/officeDocument/2006/relationships/slide" Target="/ppt/slides/slide16.xml" Id="R64d4aa3cfce443e2" /><Relationship Type="http://schemas.openxmlformats.org/officeDocument/2006/relationships/slide" Target="/ppt/slides/slide17.xml" Id="R29d9a6a96c2549c3" /><Relationship Type="http://schemas.openxmlformats.org/officeDocument/2006/relationships/slide" Target="/ppt/slides/slide18.xml" Id="R3a4d7071fbe84ae3" /><Relationship Type="http://schemas.openxmlformats.org/officeDocument/2006/relationships/slide" Target="/ppt/slides/slide19.xml" Id="R291077cc83694b87" /><Relationship Type="http://schemas.openxmlformats.org/officeDocument/2006/relationships/slide" Target="/ppt/slides/slide20.xml" Id="R6921394596fe44ad" /><Relationship Type="http://schemas.openxmlformats.org/officeDocument/2006/relationships/slide" Target="/ppt/slides/slide21.xml" Id="R8f3f6f464850479f" /><Relationship Type="http://schemas.openxmlformats.org/officeDocument/2006/relationships/slide" Target="/ppt/slides/slide22.xml" Id="Rbee7adbf1c9a4bee" /><Relationship Type="http://schemas.openxmlformats.org/officeDocument/2006/relationships/slide" Target="/ppt/slides/slide23.xml" Id="R3e6bff2625d349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84111ecc564c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68259d394f441d" /><Relationship Type="http://schemas.openxmlformats.org/officeDocument/2006/relationships/notesMaster" Target="/ppt/notesMasters/notesMaster1.xml" Id="R6a013cb525d84d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80febfb0ac4eda" /><Relationship Type="http://schemas.openxmlformats.org/officeDocument/2006/relationships/notesMaster" Target="/ppt/notesMasters/notesMaster1.xml" Id="R0b0249e6d4554a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f39a18929247a5" /><Relationship Type="http://schemas.openxmlformats.org/officeDocument/2006/relationships/notesMaster" Target="/ppt/notesMasters/notesMaster1.xml" Id="R180ea53dfac244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4e0a9a4395482b" /><Relationship Type="http://schemas.openxmlformats.org/officeDocument/2006/relationships/notesMaster" Target="/ppt/notesMasters/notesMaster1.xml" Id="R4b15cfca82e14d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6c662744c940d0" /><Relationship Type="http://schemas.openxmlformats.org/officeDocument/2006/relationships/notesMaster" Target="/ppt/notesMasters/notesMaster1.xml" Id="Re645898015284a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1c880c39fd40e4" /><Relationship Type="http://schemas.openxmlformats.org/officeDocument/2006/relationships/notesMaster" Target="/ppt/notesMasters/notesMaster1.xml" Id="Rab5b6786329749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10d3cfd7744cac" /><Relationship Type="http://schemas.openxmlformats.org/officeDocument/2006/relationships/notesMaster" Target="/ppt/notesMasters/notesMaster1.xml" Id="Rf4a7c842bb6d42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d1871038104a05" /><Relationship Type="http://schemas.openxmlformats.org/officeDocument/2006/relationships/notesMaster" Target="/ppt/notesMasters/notesMaster1.xml" Id="R8d16c746323343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4ee6046ce14300" /><Relationship Type="http://schemas.openxmlformats.org/officeDocument/2006/relationships/notesMaster" Target="/ppt/notesMasters/notesMaster1.xml" Id="R102a70c9299e41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1f0871fc38484e" /><Relationship Type="http://schemas.openxmlformats.org/officeDocument/2006/relationships/notesMaster" Target="/ppt/notesMasters/notesMaster1.xml" Id="Rd6716348103943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385219008c4305" /><Relationship Type="http://schemas.openxmlformats.org/officeDocument/2006/relationships/notesMaster" Target="/ppt/notesMasters/notesMaster1.xml" Id="R4b28fd96008649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dcd39b19974793" /><Relationship Type="http://schemas.openxmlformats.org/officeDocument/2006/relationships/notesMaster" Target="/ppt/notesMasters/notesMaster1.xml" Id="Ra8a46d7165de46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e25b81de5894303" /><Relationship Type="http://schemas.openxmlformats.org/officeDocument/2006/relationships/notesMaster" Target="/ppt/notesMasters/notesMaster1.xml" Id="Rf482b9aec60b492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343c43bd99b4afc" /><Relationship Type="http://schemas.openxmlformats.org/officeDocument/2006/relationships/notesMaster" Target="/ppt/notesMasters/notesMaster1.xml" Id="R1a5b06c01e7d4c5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9bc160c1d5940ee" /><Relationship Type="http://schemas.openxmlformats.org/officeDocument/2006/relationships/notesMaster" Target="/ppt/notesMasters/notesMaster1.xml" Id="Re06e18b1849c49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41835ceba0a4fe5" /><Relationship Type="http://schemas.openxmlformats.org/officeDocument/2006/relationships/notesMaster" Target="/ppt/notesMasters/notesMaster1.xml" Id="R040522c50910422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f9763389b594c5a" /><Relationship Type="http://schemas.openxmlformats.org/officeDocument/2006/relationships/notesMaster" Target="/ppt/notesMasters/notesMaster1.xml" Id="R8c929ac819a7458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eeee7c71faf46eb" /><Relationship Type="http://schemas.openxmlformats.org/officeDocument/2006/relationships/notesMaster" Target="/ppt/notesMasters/notesMaster1.xml" Id="R65f07219cc284f6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8bf02e0018c4739" /><Relationship Type="http://schemas.openxmlformats.org/officeDocument/2006/relationships/notesMaster" Target="/ppt/notesMasters/notesMaster1.xml" Id="Rd0f2d77db62142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ad17a256594106" /><Relationship Type="http://schemas.openxmlformats.org/officeDocument/2006/relationships/notesMaster" Target="/ppt/notesMasters/notesMaster1.xml" Id="Ra5318a66bfc4464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529fd49ecbe4000" /><Relationship Type="http://schemas.openxmlformats.org/officeDocument/2006/relationships/notesMaster" Target="/ppt/notesMasters/notesMaster1.xml" Id="Rda46657eea2c48e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54f0a77e5e746b1" /><Relationship Type="http://schemas.openxmlformats.org/officeDocument/2006/relationships/notesMaster" Target="/ppt/notesMasters/notesMaster1.xml" Id="Rfa1bb16f333940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3a60763ded49d0" /><Relationship Type="http://schemas.openxmlformats.org/officeDocument/2006/relationships/notesMaster" Target="/ppt/notesMasters/notesMaster1.xml" Id="R9da3ae184f9946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封面为 AI 生成的概念视觉，不代表集团真实校区。集团业务与人员规模来自用户提供的信息。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这是决策口径，当前缺少集团岗位、工资和工作量基线。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来源：NBER https://www.nber.org/system/files/working_papers/w31161/revisions/w31161.rev0.pdf</a:t>
            </a:r>
          </a:p>
          <a:p xmlns:a="http://schemas.openxmlformats.org/drawingml/2006/main">
            <a:r>
              <a:t>世界银行 https://documents1.worldbank.org/curated/en/099548105192529324/pdf/IDU-c09f40d8-9ff8-42dc-b315-591157499be7.pdf。0.31 标准差为包括英语、AI 知识和数字技能的综合评估结果。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试点设计建议。综合高中教学活动须遵守教育部相关指导，教师保留最终教学判断。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以上为建议流程和职责边界。集团当前系统、证照、资质和业务结构未核实。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人数为项目组织建议，不代表集团当前部门人数。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隐私与供应商要求参考《个人信息保护法》 https://www.cac.gov.cn/2021-08/20/c_1631050028355286.htm，教育部智慧教育平台个人信息保护标准通知 https://www.moe.gov.cn/srcsite/A16/s3342/202507/t20250731_1200912.html。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建议进度，需按集团实际学期、招生周期和系统准备情况调整。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指标为建议。需先定义分母、数据来源和观察周期，再确定目标。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全部数字为情景假设，不是集团实测。20,700=300×1.5×46；11.5=20,700÷1,800。工时价值仅在确有再分配价值或可避免成本时计入。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法律依据：《个人信息保护法》 https://www.cac.gov.cn/2021-08/20/c_1631050028355286.htm；教育行业标准 https://www.moe.gov.cn/srcsite/A16/s3342/202507/t20250731_1200912.html；UNESCO 指南 https://www.unesco.org/en/articles/guidance-generative-ai-education-and-research。具体适用须结合集团业务、系统和法律意见判断。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岗位测算模板为配套可填报工作簿。公式属于建议模型；每个岗位的最低配置需核实。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岗位分类为建议；集团实际岗位结构未提供。民办学校教师资质与专任教师要求见 https://www.moe.gov.cn/jyb_sjzl/sjzl_zcfg/zcfg_jyxzfg/202110/t20211029_575965.html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《劳动合同法》 https://www.mohrss.gov.cn/xxgk2020/fdzdgknr/zcfg/fl/202011/t20201102_394622_wap.html；《民办教育促进法实施条例》 https://www.moe.gov.cn/jyb_sjzl/sjzl_zcfg/zcfg_jyxzfg/202110/t20211029_575965.html。法律适用须由集团法务按具体主体及事实判断。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对照方式须在第 15 天依据业务量决定，避免季节性与样本结构造成虚假提升。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权重为建议采购评分，不是外部事实。必要条件包括数据处理协议、权限、审计日志、删除与导出能力。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建议进度，须根据集团学期、招生周期、办学主体和试点结果调整。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决策请求为建议；并非已经获得集团授权。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 万、9 个月、35 万、25 万均为可填报情景假设，未取得集团工资、合同与岗位台账。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52,200 小时是将29岗按每岗1,800小时估算的必要容量检验，不能单凭工时推导合法减编。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这是候选流程池，岗位人数和节约金额需15天核实。教师质量试点不计入默认减编池。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NBER 客服 https://www.nber.org/system/files/working_papers/w31161/revisions/w31161.rev0.pdf</a:t>
            </a:r>
          </a:p>
          <a:p xmlns:a="http://schemas.openxmlformats.org/drawingml/2006/main">
            <a:r>
              <a:t>NBER 跨企业试验 https://www.nber.org/papers/w33795</a:t>
            </a:r>
          </a:p>
          <a:p xmlns:a="http://schemas.openxmlformats.org/drawingml/2006/main">
            <a:r>
              <a:t>世界银行秘鲁教师随机试验 https://reproducibility.worldbank.org/catalog/608。不同研究不能直接转化为集团减员比例。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NBER — 生成式 AI 在客服岗位的实证研究 — https://www.nber.org/system/files/working_papers/w31161/revisions/w31161.rev0.pdf</a:t>
            </a:r>
          </a:p>
          <a:p xmlns:a="http://schemas.openxmlformats.org/drawingml/2006/main">
            <a:r>
              <a:t>世界银行 — 尼日利亚高中 AI 辅导随机试验 — https://documents1.worldbank.org/curated/en/099548105192529324/pdf/IDU-c09f40d8-9ff8-42dc-b315-591157499be7.pdf</a:t>
            </a:r>
          </a:p>
          <a:p xmlns:a="http://schemas.openxmlformats.org/drawingml/2006/main">
            <a:r>
              <a:t>NBER — 跨企业 AI 工作模式随机试验 — https://www.nber.org/papers/w33795</a:t>
            </a:r>
          </a:p>
          <a:p xmlns:a="http://schemas.openxmlformats.org/drawingml/2006/main">
            <a:r>
              <a:t>世界银行 — 秘鲁教师 AI 随机试验 — https://reproducibility.worldbank.org/catalog/608</a:t>
            </a:r>
          </a:p>
          <a:p xmlns:a="http://schemas.openxmlformats.org/drawingml/2006/main">
            <a:r>
              <a:t>UNESCO — 生成式 AI 教育与研究指南 — https://www.unesco.org/en/articles/guidance-generative-ai-education-and-research</a:t>
            </a:r>
          </a:p>
          <a:p xmlns:a="http://schemas.openxmlformats.org/drawingml/2006/main">
            <a:r>
              <a:t>OECD — TALIS 2024 教师调查 — https://www.oecd.org/en/publications/results-from-talis-2024_90df6235-en.html</a:t>
            </a:r>
          </a:p>
          <a:p xmlns:a="http://schemas.openxmlformats.org/drawingml/2006/main">
            <a:r>
              <a:t>中国网信网 — 中华人民共和国个人信息保护法 — https://www.cac.gov.cn/2021-08/20/c_1631050028355286.htm</a:t>
            </a:r>
          </a:p>
          <a:p xmlns:a="http://schemas.openxmlformats.org/drawingml/2006/main">
            <a:r>
              <a:t>教育部 — 智慧教育平台个人信息保护标准通知 — https://www.moe.gov.cn/srcsite/A16/s3342/202507/t20250731_1200912.html</a:t>
            </a:r>
          </a:p>
          <a:p xmlns:a="http://schemas.openxmlformats.org/drawingml/2006/main">
            <a:r>
              <a:t>人社部 — 中华人民共和国劳动合同法 — https://www.mohrss.gov.cn/xxgk2020/fdzdgknr/zcfg/fl/202011/t20201102_394622_wap.html</a:t>
            </a:r>
          </a:p>
          <a:p xmlns:a="http://schemas.openxmlformats.org/drawingml/2006/main">
            <a:r>
              <a:t>教育部 — 民办教育促进法实施条例 — https://www.moe.gov.cn/jyb_sjzl/sjzl_zcfg/zcfg_jyxzfg/202110/t20211029_575965.html</a:t>
            </a:r>
          </a:p>
          <a:p xmlns:a="http://schemas.openxmlformats.org/drawingml/2006/main">
            <a:r>
              <a:t>人社部 — 技工院校设置标准 — https://www.mohrss.gov.cn/xxgk2020/fdzdgknr/zcfg/gfxwj/rcrs/202312/t20231207_510180.html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bfaec8d5d842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b90b6f0fbc4739" /><Relationship Type="http://schemas.openxmlformats.org/officeDocument/2006/relationships/slideLayout" Target="/ppt/slideLayouts/slideLayout1.xml" Id="R6b2b7eb5889345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2b7eb5889345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c2362e5b141a8" /><Relationship Type="http://schemas.openxmlformats.org/officeDocument/2006/relationships/image" Target="/ppt/media/image.png" Id="Rfec59037048047a7" /><Relationship Type="http://schemas.openxmlformats.org/officeDocument/2006/relationships/notesSlide" Target="/ppt/notesSlides/notesSlide1.xml" Id="R336b4210dc164f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bc625c5984e60" /><Relationship Type="http://schemas.openxmlformats.org/officeDocument/2006/relationships/notesSlide" Target="/ppt/notesSlides/notesSlide2.xml" Id="R3f4ff4dff3fb42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6982312454104" /><Relationship Type="http://schemas.openxmlformats.org/officeDocument/2006/relationships/notesSlide" Target="/ppt/notesSlides/notesSlide3.xml" Id="R9d9ed262a5c945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a593548e34e1c" /><Relationship Type="http://schemas.openxmlformats.org/officeDocument/2006/relationships/notesSlide" Target="/ppt/notesSlides/notesSlide4.xml" Id="R724d9380377642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ec1bae62e4238" /><Relationship Type="http://schemas.openxmlformats.org/officeDocument/2006/relationships/notesSlide" Target="/ppt/notesSlides/notesSlide5.xml" Id="Rc6b34d45151348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4f43ab59d4b89" /><Relationship Type="http://schemas.openxmlformats.org/officeDocument/2006/relationships/notesSlide" Target="/ppt/notesSlides/notesSlide6.xml" Id="R6460c809c56540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579725a074ac8" /><Relationship Type="http://schemas.openxmlformats.org/officeDocument/2006/relationships/notesSlide" Target="/ppt/notesSlides/notesSlide7.xml" Id="R3ec4fc97fa8840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aeb4e8adf462e" /><Relationship Type="http://schemas.openxmlformats.org/officeDocument/2006/relationships/notesSlide" Target="/ppt/notesSlides/notesSlide8.xml" Id="Rd33f19744bca4c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27c97f8ef4f8d" /><Relationship Type="http://schemas.openxmlformats.org/officeDocument/2006/relationships/notesSlide" Target="/ppt/notesSlides/notesSlide9.xml" Id="R1d1ad9f4dca742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cb27d14174d44" /><Relationship Type="http://schemas.openxmlformats.org/officeDocument/2006/relationships/notesSlide" Target="/ppt/notesSlides/notesSlide10.xml" Id="R685fd0fba74544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d9c07433f4109" /><Relationship Type="http://schemas.openxmlformats.org/officeDocument/2006/relationships/notesSlide" Target="/ppt/notesSlides/notesSlide11.xml" Id="Rc50dd5867d4a4f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f9e038c604805" /><Relationship Type="http://schemas.openxmlformats.org/officeDocument/2006/relationships/notesSlide" Target="/ppt/notesSlides/notesSlide12.xml" Id="R769941f2872a49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ef2172375435c" /><Relationship Type="http://schemas.openxmlformats.org/officeDocument/2006/relationships/notesSlide" Target="/ppt/notesSlides/notesSlide13.xml" Id="Rd57eec4342df499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550bf7a8c42be" /><Relationship Type="http://schemas.openxmlformats.org/officeDocument/2006/relationships/notesSlide" Target="/ppt/notesSlides/notesSlide14.xml" Id="R4d0ef5df53be49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a23103f364d7c" /><Relationship Type="http://schemas.openxmlformats.org/officeDocument/2006/relationships/notesSlide" Target="/ppt/notesSlides/notesSlide15.xml" Id="R9d31b126a7b8431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00bba85fd4742" /><Relationship Type="http://schemas.openxmlformats.org/officeDocument/2006/relationships/notesSlide" Target="/ppt/notesSlides/notesSlide16.xml" Id="R2d02b478c26346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fe755541a458d" /><Relationship Type="http://schemas.openxmlformats.org/officeDocument/2006/relationships/notesSlide" Target="/ppt/notesSlides/notesSlide17.xml" Id="R981af82e2b1b468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f2849c29e46f3" /><Relationship Type="http://schemas.openxmlformats.org/officeDocument/2006/relationships/notesSlide" Target="/ppt/notesSlides/notesSlide18.xml" Id="Rc3c24af472a74c9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22ea824364e53" /><Relationship Type="http://schemas.openxmlformats.org/officeDocument/2006/relationships/notesSlide" Target="/ppt/notesSlides/notesSlide19.xml" Id="Rf3fa679dbdde4b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e03a22eac4e7c" /><Relationship Type="http://schemas.openxmlformats.org/officeDocument/2006/relationships/notesSlide" Target="/ppt/notesSlides/notesSlide20.xml" Id="R11e71f4c0e86408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4e1e77f914326" /><Relationship Type="http://schemas.openxmlformats.org/officeDocument/2006/relationships/notesSlide" Target="/ppt/notesSlides/notesSlide21.xml" Id="R179fd15e3c17453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4eaf6e95e4d21" /><Relationship Type="http://schemas.openxmlformats.org/officeDocument/2006/relationships/notesSlide" Target="/ppt/notesSlides/notesSlide22.xml" Id="R374483e5614a467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f52cdf5e14266" /><Relationship Type="http://schemas.openxmlformats.org/officeDocument/2006/relationships/notesSlide" Target="/ppt/notesSlides/notesSlide23.xml" Id="Rbf6205cda2bf47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2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59037048047a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B1D05-AA6A-4BD6-8E9E-1C4A9AB5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04850"/>
            <a:ext cx="581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B0111-0254-4228-BD17-EF9E56D3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7239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AI+编制优化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年度节约 200 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78C4B-ADF7-4423-92C7-3C80DB6B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619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3C09A"/>
                </a:solidFill>
                <a:latin typeface="Microsoft YaHei"/>
                <a:ea typeface="Microsoft YaHei"/>
                <a:cs typeface="Microsoft YaHei"/>
              </a:defRPr>
            </a:pPr>
            <a:r>
              <a:t>300 人团队 · 12 个月兑现路线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A23D2-9520-4AF2-A03E-3BCCE73E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048375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董事长决策稿  ·  2026 年 9 月</a:t>
            </a:r>
          </a:p>
        </p:txBody>
      </p:sp>
    </p:spTree>
    <p:extLst>
      <p:ext uri="{BB962C8B-B14F-4D97-AF65-F5344CB8AC3E}">
        <p14:creationId xmlns:p14="http://schemas.microsoft.com/office/powerpoint/2010/main" val="740359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B609E-3DC6-42E3-BAC1-BB1CAB6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F1821-6306-431B-BB60-E8AC22DA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编制优化先算清四层账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A511D-52A9-471B-83A7-C6BE3790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任务节时与实际减编之间，有服务、岗位和法律约束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C0318-EAE1-44A1-8B13-DE7001E9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C8C74-24E2-4CBB-A0E2-743D1F38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E5D2A4-D0F7-46CE-966E-604D16B8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71765-AAC0-4A05-BEE4-F95CB5E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28875"/>
            <a:ext cx="2476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任务节时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E65B9-7B79-48D0-9E44-C8717FED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666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每件任务节省多少人工分钟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3B176-74C8-462A-A9A5-1EAC5230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4D5501-DFBF-4AAF-8AE7-DB28A827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33750"/>
            <a:ext cx="2476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可释放产能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24BB9-E261-49CB-8CCC-6538C941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33750"/>
            <a:ext cx="666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能否在同一岗位和排班中合并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7E8E4-D120-4D29-94E1-37825128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40671-A642-4A98-9167-E7D66CC3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38625"/>
            <a:ext cx="2476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可调整岗位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0BD318-B4CB-4FD0-B065-DF861042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38625"/>
            <a:ext cx="666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扣除教学、资质与服务底线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09ED2-BC71-4757-9470-47CA657D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668156-83EA-4539-826D-680A799D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2571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实际现金节约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A13A1-A332-4927-BD60-2EB90451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43500"/>
            <a:ext cx="666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只计算已实际离岗的工资成本</a:t>
            </a:r>
          </a:p>
        </p:txBody>
      </p:sp>
    </p:spTree>
    <p:extLst>
      <p:ext uri="{BB962C8B-B14F-4D97-AF65-F5344CB8AC3E}">
        <p14:creationId xmlns:p14="http://schemas.microsoft.com/office/powerpoint/2010/main" val="17503666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222BC9-C572-4B4D-B8F7-53AB7D3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9AD50-48FF-4966-A01B-1CD5033F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国际证据指向两类机会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3B46B-6AEA-41F8-9442-A7999D3B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客服效率可以改善；学习效果需要教师参与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9122F-EBD4-40AE-BB59-08184811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1C891-9851-48BC-B133-A7F0AE10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9E0B5-A48C-4E8E-B58C-3A47C02D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35718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65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14%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6E997-F6BE-44C4-A70A-D07117DD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客服人员每小时解决问题的平均提升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DC16A-C896-4FDF-B3F1-96BA6577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4000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65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0.31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7B9BE-FBD8-429E-8509-C4F873F2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52825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标准差的综合学习增益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2EBB7-7E30-4671-8837-A71C4A5E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714875"/>
            <a:ext cx="4953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NBER：5,179 名客服人员，收益主要集中在经验较少者。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CAD635-9722-4B54-8D59-C4DDC448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14875"/>
            <a:ext cx="4857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世界银行：尼日利亚高中生六周试验，AI 辅导有教师指导。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69757-38B3-4BC3-964D-6BEB6AFE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48350"/>
            <a:ext cx="10620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这两项结果用于选择试点，不作为集团收益承诺。</a:t>
            </a:r>
          </a:p>
        </p:txBody>
      </p:sp>
    </p:spTree>
    <p:extLst>
      <p:ext uri="{BB962C8B-B14F-4D97-AF65-F5344CB8AC3E}">
        <p14:creationId xmlns:p14="http://schemas.microsoft.com/office/powerpoint/2010/main" val="954280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595EF-FDEB-4168-8F58-4ABC3B9F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5F804-A549-411E-8FDD-F9FB43CB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第一批聚焦三个可控流程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91C80-84FE-4DF4-8633-3C61015E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选高频、可核对、可计时的任务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C957A-A81D-4892-A6A3-0FDB15EF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DC12A-98BB-4446-BEBF-4FB8B1B9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D98B5-1582-4D21-9820-DDD8CF4E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43175"/>
            <a:ext cx="2905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招生咨询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8C164-A956-4F7B-9B45-23209663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38500"/>
            <a:ext cx="295275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标准答复草稿</a:t>
            </a:r>
          </a:p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咨询摘要与跟进提醒</a:t>
            </a:r>
          </a:p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人工核实并发送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97CE5-D2CD-4BA1-8FB8-E78ABC06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43175"/>
            <a:ext cx="2905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教务材料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901B0-675F-4194-B8E6-72F1C1B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38500"/>
            <a:ext cx="30480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材料缺项提示</a:t>
            </a:r>
          </a:p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申请文件整理</a:t>
            </a:r>
          </a:p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异常交给授权人员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9C392C-E281-49EF-8D12-30476B05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43175"/>
            <a:ext cx="2905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行政共享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54C42-C1E4-4ABD-B86C-473ECD37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3238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票据与报表草稿</a:t>
            </a:r>
          </a:p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制度问答及任务分流</a:t>
            </a:r>
          </a:p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审批继续由人完成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FF639-3CC0-4908-BCD6-2A78046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每个流程都要保留原流程或对照组，避免把季节波动误认成 AI 收益。</a:t>
            </a:r>
          </a:p>
        </p:txBody>
      </p:sp>
    </p:spTree>
    <p:extLst>
      <p:ext uri="{BB962C8B-B14F-4D97-AF65-F5344CB8AC3E}">
        <p14:creationId xmlns:p14="http://schemas.microsoft.com/office/powerpoint/2010/main" val="7006855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20120-EB40-42B1-8717-DD81E55A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65F1C-4BD1-4410-B5E7-16C697BB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五条业务线各有清晰边界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F837B-C8DD-4217-AC9F-4B5A357B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把 AI 放在资料处理与辅助判断的位置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C6D72-6F7E-4A40-99C2-80A266F2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66604-9CAF-4752-9918-5E30BB1C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49CEF-35D5-45F2-8017-2F343718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241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招生与咨询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646AF-E669-4083-9618-769AB51A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2412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回答已核准的课程信息；顾问决定是否适合学生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02587-6D6C-46A2-9E5A-5D2FEC85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综合高中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FA418-CC57-4FEC-9E8D-E1B25339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194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辅助备课和分层练习；教师评价学生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2ECAC5-5367-4C1E-9EFE-F627070E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1477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职业教育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0D9AF4-692F-43C5-80F1-0A7D26A7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91477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更新实训任务草稿；专业负责人审定技能标准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4DE52F-A24A-4BB4-A172-D7A2A494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1010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技能认定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B3D1F-B97D-4DC1-BD89-5859CE2C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1010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检查材料和排程；考评与认定由授权人员负责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655F8A-EF2D-4649-BCDB-C3B4938D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054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国际教育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F0FD03-622F-4228-BABE-CDC65818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30542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翻译与材料核查；顾问确认院校和签证要求</a:t>
            </a:r>
          </a:p>
        </p:txBody>
      </p:sp>
    </p:spTree>
    <p:extLst>
      <p:ext uri="{BB962C8B-B14F-4D97-AF65-F5344CB8AC3E}">
        <p14:creationId xmlns:p14="http://schemas.microsoft.com/office/powerpoint/2010/main" val="17213882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57E710-DC8A-4493-B18C-C5D3D15C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1E242C-CF3F-4E3F-8C9C-1C197517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300 人的岗位调查方式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27FF2-07B7-402E-9AE8-3F412AAC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先按法人、校区与岗位拆解人数，再测算调整空间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BFF58-34F6-479C-9855-96075417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E9C780-E85F-4DF3-89DD-5725C8B9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DA4EB-CC97-4272-A846-2397408E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3619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4–6 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10A8E-F288-40AC-9B71-C1F7288E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4330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集团项目小组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AE342-616C-4DC6-AC62-CCDACBD8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48125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从现有团队抽调，覆盖业务、教学、IT 和合规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A0C65-7DF2-4F62-9A75-B689C527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619375"/>
            <a:ext cx="381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60 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0CF5C-271D-4D54-A890-07003E8D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4330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跨岗位试点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210E0-4503-48EE-905B-EB962200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48125"/>
            <a:ext cx="44291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覆盖校区、资历和岗位差异，按任务训练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F194A-28F0-4D98-9DC1-BAD3A091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10382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两周内核对 300 人岗位分布；每个岗位填任务量、最低覆盖与年全成本。</a:t>
            </a:r>
          </a:p>
        </p:txBody>
      </p:sp>
    </p:spTree>
    <p:extLst>
      <p:ext uri="{BB962C8B-B14F-4D97-AF65-F5344CB8AC3E}">
        <p14:creationId xmlns:p14="http://schemas.microsoft.com/office/powerpoint/2010/main" val="85107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F7319-C4E7-4B09-9AA8-0D7DE1C4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16639B-7E88-4E5A-BB71-C685AF95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技术架构从可信资料开始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0401A-FF7F-459F-970F-6FC96391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采购通用能力，保留集团自己的知识和工作流程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6FEF4-6E2E-44CE-9560-C86A82E3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3999F-775E-4570-BA7F-8859A0B6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087A6-2B6C-4079-9058-C6CEB644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295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已审核资料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D7B61-4DB9-44FA-AB80-09EE40C3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3028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课程、政策、收费、合作院校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1C476-4CF2-4C78-A4D4-0DE8E99E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38425"/>
            <a:ext cx="295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员工工作台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1516A-15D3-49D2-8F64-4F355FF2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81350"/>
            <a:ext cx="3028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按岗位授权，答案附资料来源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4BDF9-DD8E-450E-9CFF-B996281D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38425"/>
            <a:ext cx="295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业务系统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A968A-8D5F-4AB1-9D1C-D87C8AE2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81350"/>
            <a:ext cx="3028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招生、教务、课程、考务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65F0F2-6F07-47FE-8D5F-70730EBB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295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质量控制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46519-46B2-47D9-8A6D-ED5D20BB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30289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抽检、投诉、错误回收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D738F-6CBA-40CD-802E-4C2D9432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95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安全控制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6CB1B1-4A08-479D-85AD-3832A36F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410200"/>
            <a:ext cx="30289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数据分类、日志与供应商审查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13229-BF71-4D43-945B-F3F9524B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95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人工复核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37336-3C17-40C0-84DB-2B900475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410200"/>
            <a:ext cx="30289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对外答复与重要决定留人</a:t>
            </a:r>
          </a:p>
        </p:txBody>
      </p:sp>
    </p:spTree>
    <p:extLst>
      <p:ext uri="{BB962C8B-B14F-4D97-AF65-F5344CB8AC3E}">
        <p14:creationId xmlns:p14="http://schemas.microsoft.com/office/powerpoint/2010/main" val="19754114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B5049A-3A7C-40B5-A7EA-249101E9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B2E53-D46F-40A6-A584-F5A7649F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90 天分四步推进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62EAB-06C4-4717-AE2C-8E8648EF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每一步都交付可以核查的证据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934F82-FC91-4261-A83B-4DFB5C8B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92B66F-8E5C-42D3-A45D-0C5650D8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185AE-F847-4097-A6C6-B3D7A354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1–15 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51796-1C6C-4843-89A7-5F89CB84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476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量基线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9F296-9E43-4308-BBA9-4AA13949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765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任务量、耗时、差错、系统和数据权限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9E787-33E3-48EE-8603-05C6ECCB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16–30 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575BC-F59F-41E0-92F9-EFD1D3DA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38137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建知识库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6D186-D87C-4EEE-A4D8-FCD38F31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81375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审核资料、设置转人工、用历史案例测试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C9EB2-3F0E-4968-8917-E541267E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31–60 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57C2D-EC03-4454-861D-A1CAD984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2862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60 人试点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4AEE7E-6EF4-4B95-94A4-0695825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862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对照原流程，每周核查收益与风险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0C93D-C306-46CD-AB7D-6F74AF70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61–90 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7B20C-140B-4E1A-866E-8C6280C5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1911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决定扩展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8EB8F-7EAE-4401-827F-A3BDAEC3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91125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核算净收益，扩展、修改或停止</a:t>
            </a:r>
          </a:p>
        </p:txBody>
      </p:sp>
    </p:spTree>
    <p:extLst>
      <p:ext uri="{BB962C8B-B14F-4D97-AF65-F5344CB8AC3E}">
        <p14:creationId xmlns:p14="http://schemas.microsoft.com/office/powerpoint/2010/main" val="2980177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356D2E-AD7E-4C37-8888-075D0853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CDDBF-1046-4AA7-AD48-CB3D7E32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每周看一张经营与质量仪表盘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FE298-3A78-4305-ABDB-1D75DD4B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效率、增长和教育结果必须一起看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CEE58-2D9E-48BC-BDE7-F7187788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FDB346-3678-4C20-A3B3-1435D8B2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50987-96AD-4B9B-AF53-E730B2DA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83CCD-9DED-4290-B944-99963F39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812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首次响应时间、有效咨询转报名率、投诉率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FF39A-3BF6-45B4-A053-63FE5F35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7657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教学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A14AC-AF72-4931-BC88-7AF31D79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7657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备课时间、作业质量、学习结果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A3168-0A5F-4A25-AE81-B6D5CE41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7190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运营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244BD-8789-4984-B974-6DD33EC4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7190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处理时长、一次通过率、复核差错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441E9-3ED4-4474-AF21-B24A719F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672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财务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36094-7624-4C21-A616-B285BDB9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6722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增量毛利、工具成本、人工复核成本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33F904-4C66-416F-969E-E321EC2C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人员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8D27A-03A8-4F44-BD1F-73694805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1625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使用率、工作负担、学生服务时间</a:t>
            </a:r>
          </a:p>
        </p:txBody>
      </p:sp>
    </p:spTree>
    <p:extLst>
      <p:ext uri="{BB962C8B-B14F-4D97-AF65-F5344CB8AC3E}">
        <p14:creationId xmlns:p14="http://schemas.microsoft.com/office/powerpoint/2010/main" val="17580475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790FEE-0843-424B-969C-8E0B19A9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384DB-931C-44A7-B434-C5A73286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收益测算先分清产能与现金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0A5BD0-D339-41CF-83FC-DCEF5AC6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示例只说明计算方法，不能直接转换成可裁岗位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268D38-60AC-40D6-931C-9012E777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F661F-5D2A-4848-8950-D1440B6A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54072-8B9B-48EC-B62B-D8EB0150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300 人 × 每周 1.5 小时 × 46 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80722-6A93-4898-95D1-2416AEC8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00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20,700 小时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A41BE-CB63-4456-85F6-EE2E7905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按每年 1,800 小时折算，约为 11.5 个全职岗位的工作量。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C5ABA-30C8-4342-886C-B57DC811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现金公式：实际离岗岗位 × 年全成本 − 过渡成本 − AI 年度成本</a:t>
            </a:r>
          </a:p>
        </p:txBody>
      </p:sp>
    </p:spTree>
    <p:extLst>
      <p:ext uri="{BB962C8B-B14F-4D97-AF65-F5344CB8AC3E}">
        <p14:creationId xmlns:p14="http://schemas.microsoft.com/office/powerpoint/2010/main" val="1799893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FD5AF7-A2F3-4E49-B363-E73F27CD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06EACA-C04F-4931-8DB2-93D4018B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四条必须守住的边界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4ABB6-BFAE-411A-8BE5-FDB55C62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减少错误决策和数据风险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3E59D-BECA-4702-9397-740C9A1A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A6D5E-2294-4C01-919E-B06D9F82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DB3EA-614F-4F43-9A33-9E9FAA35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28875"/>
            <a:ext cx="71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D76F7-9B63-43EF-85D0-646F9D7D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28875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学生数据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ABB98-EBFD-4101-ADE2-26C4557A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428875"/>
            <a:ext cx="723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个人信息先分类；敏感资料不得随意送入公共工具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0F025-5B8F-416F-ACDC-F925C2DE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71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790A9-68A8-482E-A88E-24794981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3375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教学评价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474FD-F843-4C16-9CF6-2E4B324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33750"/>
            <a:ext cx="723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教师审定内容与评价，不让模型独立决定结果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A5FE8C-9A52-409E-A36C-6B0B46C1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71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03ADC-F9EE-43B3-AADE-010C02BC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38625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技能认定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AAE15-09FE-48B4-8679-3AEB9CB9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38625"/>
            <a:ext cx="723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资格、考评与发证由授权人员负责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5DAE1-9144-489A-BD7D-DFEA2160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71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2E8DB-0493-4083-9EA6-3A582BAF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人员管理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C0F6E0-62F0-4075-B9E0-27E1D72B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143500"/>
            <a:ext cx="723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AI 可整理事实，重大员工决定必须有人复核</a:t>
            </a:r>
          </a:p>
        </p:txBody>
      </p:sp>
    </p:spTree>
    <p:extLst>
      <p:ext uri="{BB962C8B-B14F-4D97-AF65-F5344CB8AC3E}">
        <p14:creationId xmlns:p14="http://schemas.microsoft.com/office/powerpoint/2010/main" val="15191405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B2ED2C-064A-4D8C-BDC7-0EACFC75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15D7B-6CEA-4940-A53A-5A8A4D89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每个岗位都要单独算调整上限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208D81-BCBC-4378-A864-344F7289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随附工作簿已把这些字段做成可填报公式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DB0F1-6BB6-4C03-97CC-22C69177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154B7-3F25-4900-9A6B-F84846CF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DC558-324A-4218-9E7A-D9888EC4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547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任务量 × 每件净节时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54CBA-A974-40CF-A912-EF63EC97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年度释放小时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34644-0AE1-4A50-A828-475ABEF0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0425"/>
            <a:ext cx="547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年度释放小时 ÷ 年有效工时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BA5510-7D34-4188-8C92-B8A257F7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004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可释放产能 FTE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7ED40-148B-4256-AFF0-D17BE5E4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5476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取较小值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60A7A-05FE-42F9-95EA-78D0E0A3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0482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释放产能；现有人数扣服务底线、增长预留与转岗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A31241-3748-4C63-9DE0-F8415A77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293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工资现金节约只按实际离岗岗位计算。</a:t>
            </a:r>
          </a:p>
        </p:txBody>
      </p:sp>
    </p:spTree>
    <p:extLst>
      <p:ext uri="{BB962C8B-B14F-4D97-AF65-F5344CB8AC3E}">
        <p14:creationId xmlns:p14="http://schemas.microsoft.com/office/powerpoint/2010/main" val="937994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84E45-ADC7-4CB9-9C65-D14417FD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C2AC1-5D94-4B93-88E7-3DDAFFD6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编制机会集中在可合并的重复任务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E5F82-89CA-401C-BCC0-DF3E3E0D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先看工作与排班，再看岗位名称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08FCC-8396-4225-8DF9-C4AAAD4E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090E7-7C46-4657-B6E8-8A3B24A1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A1D182-D110-459D-A852-30E029DE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优先评估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AA4A1-04BC-4A0D-8B99-A9335CDF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812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招生记录整理、报名材料核对、重复报表与标准答复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01F7F4-E4A9-4758-86EC-C74EFDAE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6707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有条件整合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C4BE7-F813-45EE-A958-F30D1F4C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6707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教务后台、课程资料整理、国际申请材料初审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511F3-DFDA-44FB-AC38-B7EE96F2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15290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先转岗培训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DE3DD-EB72-4DDE-B295-0F650751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15290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学工支持、企业合作、家校沟通等成长岗位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44B4CF-ED20-46C5-A28B-F778C777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严格守底线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CB96C4-6536-489E-8B1A-A15725AA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38725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教师、班主任、考评授权、学生安全与必要服务岗位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6BA3C-9F6A-4D13-8E99-8C66E1EF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29300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以上是评估顺序，不代表集团已有这些岗位或已具备减少条件。</a:t>
            </a:r>
          </a:p>
        </p:txBody>
      </p:sp>
    </p:spTree>
    <p:extLst>
      <p:ext uri="{BB962C8B-B14F-4D97-AF65-F5344CB8AC3E}">
        <p14:creationId xmlns:p14="http://schemas.microsoft.com/office/powerpoint/2010/main" val="15690243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DBE6E-39DB-49AC-9CC3-6D9206B7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E77BB-E1A6-4D48-B162-E31F9DBF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人员方案需要两类批准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7168A-7839-420A-8389-D69A4797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业务底线由学校确认；劳动用工由具体雇主依法处理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980E9-3EB4-40DE-86D6-328563E7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4CAFD-B548-460F-BAB9-541CDFD4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719B8-D13B-4FDE-82BE-D87514FE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28875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办学与服务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2D795-7F88-48F8-9584-39642AF1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19625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教师资格与专任教师配置</a:t>
            </a:r>
          </a:p>
          <a:p xmlns:a="http://schemas.openxmlformats.org/drawingml/2006/main">
            <a:pPr>
              <a:defRPr sz="19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课程、班级、学生管理和安全覆盖</a:t>
            </a:r>
          </a:p>
          <a:p xmlns:a="http://schemas.openxmlformats.org/drawingml/2006/main">
            <a:pPr>
              <a:defRPr sz="19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技能认定的授权考评职责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0EB0C-BC99-43C0-A873-6C5A0C61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劳动用工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CFB39-E0C5-402C-B4FD-9D3A945D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62300"/>
            <a:ext cx="4762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按法人核对合同与岗位变化</a:t>
            </a:r>
          </a:p>
          <a:p xmlns:a="http://schemas.openxmlformats.org/drawingml/2006/main">
            <a:pPr>
              <a:defRPr sz="19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评估补偿、沟通与适用程序</a:t>
            </a:r>
          </a:p>
          <a:p xmlns:a="http://schemas.openxmlformats.org/drawingml/2006/main">
            <a:pPr>
              <a:defRPr sz="19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任何实际离岗由人事和法务逐案审查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EC38F-AABE-4732-93B4-5E882865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集团总数 300 人不能替代各用人主体的法律事实与人员台账。</a:t>
            </a:r>
          </a:p>
        </p:txBody>
      </p:sp>
    </p:spTree>
    <p:extLst>
      <p:ext uri="{BB962C8B-B14F-4D97-AF65-F5344CB8AC3E}">
        <p14:creationId xmlns:p14="http://schemas.microsoft.com/office/powerpoint/2010/main" val="15677103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E542F-AC5B-4FD1-9CE6-EA2B7D4E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9EFB1-24EC-44E8-BCB6-1400CB4F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三项试点怎样证明可减编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4FF10-91A7-4C75-AE72-2847347A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相同任务、相同周期比较，并计入人工复核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0FDCF-EB21-4650-89AF-5C794D1D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387FE-9E8E-40F1-AEDF-31BD3C37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6F98E-F0E9-4487-8853-015DD1EF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招生咨询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219FD-FF8E-4694-A0DF-A6040123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同渠道、同周比较处理分钟、有效转化与投诉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D65A2A-A4FC-434B-8E33-4AAD75F0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1470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教务材料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DD564-93BE-451C-87BE-EB37CA5D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1470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同材料类型比较处理分钟、补正率与返工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A1641-2D30-4B59-8FBA-105B306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00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行政共享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3FC2B-6258-46CD-8A7E-15958A44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100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同票据与报表类型比较耗时、差错与复核量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25CC8-6CFB-42AF-861A-053F338F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864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每周复核错误与客户反馈；90 天不足覆盖的学习或招生结果继续观察。</a:t>
            </a:r>
          </a:p>
        </p:txBody>
      </p:sp>
    </p:spTree>
    <p:extLst>
      <p:ext uri="{BB962C8B-B14F-4D97-AF65-F5344CB8AC3E}">
        <p14:creationId xmlns:p14="http://schemas.microsoft.com/office/powerpoint/2010/main" val="296568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14971-006D-4CC4-8A82-FA540D6A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9B3BD-0456-4AA3-B0AC-4F4F96FE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采购先过必要条件，再比较价格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C6EB8-B97A-44E0-9676-F9AFE8B4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拒绝无法说明数据去向、权限或退出方式的方案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C6809-2D7B-4B69-A41A-95CF8B29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4784C-5815-46CF-9896-33A10A7E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DD147-39ED-46F7-B575-E2E3084E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1457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30%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6C0CB-959B-412E-BA6E-3DD4B94A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14575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数据与合规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9B58C-D471-4CFE-AB52-E12B4A84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38322-5C4B-4D92-9A73-2C690A4B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09900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答案质量与可追溯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47C87-6664-4880-A3F7-D2A63ACF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0522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68B33-C61A-445F-8A66-7A0B5243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05225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系统集成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911DA-08AA-4507-BAE5-C5B77C5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00550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7AB9BA-5E71-4010-98A3-7E5F8C73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费用与退出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7AC3D-0451-49AE-8264-49F076D0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CCEC76-FC05-410D-981C-0F3E844C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95875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培训与支持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C8D2BC-C502-4C14-99E6-20CB10D9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至少三家可比报价；第 30、60、90 天分阶段释放预算。</a:t>
            </a:r>
          </a:p>
        </p:txBody>
      </p:sp>
    </p:spTree>
    <p:extLst>
      <p:ext uri="{BB962C8B-B14F-4D97-AF65-F5344CB8AC3E}">
        <p14:creationId xmlns:p14="http://schemas.microsoft.com/office/powerpoint/2010/main" val="20689267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3349A-B061-47C5-9065-C35F5490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44E1B0-3C48-479E-BBC5-15632CFA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12 个月分阶段兑现编制优化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DDBCC-EFD6-42FE-8ABD-2D3D2F3A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每阶段先验证质量和排班，再核算现金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BF8A9-A7BD-4A2A-BA52-8DF98B6C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3A30A-936D-4C7C-A992-AFBD1A29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F3DB4-16A3-474B-A4F8-FE8A001C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431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第 1–3 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0AFC4A-175A-49D2-9F65-DC72BCD4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431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建岗位台账，完成 60 人试点；不以估计值减编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4C20D3-3CE9-4E60-B3E3-612F01AE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0040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第 4–6 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45B70D-BE22-4B9E-A0D7-984C13F0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0040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扩大已验证的行政流程；优先招聘控制与转岗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1A4E26-01DE-486A-8C5A-9D13BF8A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第 7–9 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D9E8D7-782F-4623-8ED2-B1BE9DB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576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按法人及岗位提出正式编制方案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33181-938D-4C20-A551-ED520CFA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1490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第 10–12 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F3495-7BA0-4FAF-B253-4B0D0ECD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1490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谨慎扩展教学和认定辅助，持续复核服务底线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7FE41-4A7E-42A1-A233-0D3F807B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财务每月确认实际离岗、过渡成本与净现金影响。</a:t>
            </a:r>
          </a:p>
        </p:txBody>
      </p:sp>
    </p:spTree>
    <p:extLst>
      <p:ext uri="{BB962C8B-B14F-4D97-AF65-F5344CB8AC3E}">
        <p14:creationId xmlns:p14="http://schemas.microsoft.com/office/powerpoint/2010/main" val="205015455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2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3022F-6673-4B4E-9179-088957C0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15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董事长现在需要批准的事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570D2-1B41-43E7-AF53-04BBAD0E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3C09A"/>
                </a:solidFill>
                <a:latin typeface="Microsoft YaHei"/>
                <a:ea typeface="Microsoft YaHei"/>
                <a:cs typeface="Microsoft YaHei"/>
              </a:defRPr>
            </a:pPr>
            <a:r>
              <a:t>两周基线调查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788DC-0F00-43F0-950B-0CA1A694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各业务线提交前三项重复任务、月处理量、差错率和所用系统。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3C0A9-AE32-4527-92FC-460DB04A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590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3C09A"/>
                </a:solidFill>
                <a:latin typeface="Microsoft YaHei"/>
                <a:ea typeface="Microsoft YaHei"/>
                <a:cs typeface="Microsoft YaHei"/>
              </a:defRPr>
            </a:pPr>
            <a:r>
              <a:t>授权 90 天受控试点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C4A0D-53A0-4E3D-A659-C0D495D6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66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先投招生、教务与行政共享；第 90 天确认岗位上限与现金路径。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15822-F483-43F2-890A-EDF69CA1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246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7D0D6"/>
                </a:solidFill>
                <a:latin typeface="Microsoft YaHei"/>
                <a:ea typeface="Microsoft YaHei"/>
                <a:cs typeface="Microsoft YaHei"/>
              </a:defRPr>
            </a:pPr>
            <a:r>
              <a:t>本方案为决策草案。集团财务、系统与人员明细尚待核实。</a:t>
            </a:r>
          </a:p>
        </p:txBody>
      </p:sp>
    </p:spTree>
    <p:extLst>
      <p:ext uri="{BB962C8B-B14F-4D97-AF65-F5344CB8AC3E}">
        <p14:creationId xmlns:p14="http://schemas.microsoft.com/office/powerpoint/2010/main" val="18946880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7D32D-9541-4BA4-B8CB-F851E38F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5A417-3499-4403-8820-98AD28C8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200 万目标：首年、净额与年化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68D99-A97E-46F2-AAEF-EACF50E7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假设每岗年全成本 12 万、首年节约 9 个月、过渡 35 万、AI 25 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18060-E254-4334-A39B-CBAA30F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E44B9E-EE29-41C4-8665-7C73BC74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EDB17-7C6C-452A-98D2-82C7BFCD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860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23 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3C826-E6D7-4E3D-BD0D-7815837A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首年人力成本减少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1C4E2-8A87-4F32-9A13-8BA7749C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00525"/>
            <a:ext cx="31908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23 × 12 万 × 9/12</a:t>
            </a:r>
          </a:p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= 207 万元</a:t>
            </a:r>
          </a:p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扣除费用后净额 147 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874F7-99A0-477B-A7DC-12C73646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860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29 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7DBD63-6755-4F19-9965-08BA642D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718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首年净现金节约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5CD0F-4EFA-48FD-968D-22813C13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00525"/>
            <a:ext cx="31908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29 × 12 万 × 9/12</a:t>
            </a:r>
          </a:p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− 35 万 − 25 万</a:t>
            </a:r>
          </a:p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= 201 万元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D7C75-47F3-4F9A-A063-AC66CE02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860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17 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5C50F-8188-40A6-9109-A16CA6B5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71875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稳定年化人力减少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4F799C-DB6F-42AF-9C1F-3BD4BD2B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00525"/>
            <a:ext cx="31908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17 × 12 万</a:t>
            </a:r>
          </a:p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= 204 万元/完整年度</a:t>
            </a:r>
          </a:p>
          <a:p xmlns:a="http://schemas.openxmlformats.org/drawingml/2006/main">
            <a:pPr>
              <a:defRPr sz="165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不代表首年已实现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1C54A-ED0B-40DB-A042-A12372C4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340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主要目标：首 12 个月累计人力成本减少 ≥200 万；上述岗位数均须由集团真实数据核验。</a:t>
            </a:r>
          </a:p>
        </p:txBody>
      </p:sp>
    </p:spTree>
    <p:extLst>
      <p:ext uri="{BB962C8B-B14F-4D97-AF65-F5344CB8AC3E}">
        <p14:creationId xmlns:p14="http://schemas.microsoft.com/office/powerpoint/2010/main" val="8216809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62225B-9B16-4F80-B3F5-C49C6A02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4A6458-3B1C-49AD-9ACA-2A179D2F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29 岗意味着 52,200 小时容量门槛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6A8B9-A94F-4730-A785-FDEA6343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此前统一节省 1.5 小时/周的演示不够支撑这个目标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28FE6-6739-4746-8576-0146109C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E108C-C697-4286-8802-31964191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51A03-3238-49AD-B2BF-34D79692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4667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52,200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DB60A-4C93-4FC4-9D2A-243DD1F5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29 岗 × 1,800 小时/岗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3E681D-C83E-485B-985B-3C74A2FA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4667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20,700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7F0936-7B21-4AD7-8E89-19D89356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300 人 × 1.5 小时/周 × 46 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ECC7D-8387-482C-B9CE-2B967CC8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差额 31,500 小时；平均到 300 人需约 3.78 小时/周，且必须能在同岗位、同排班中合并。</a:t>
            </a:r>
          </a:p>
        </p:txBody>
      </p:sp>
    </p:spTree>
    <p:extLst>
      <p:ext uri="{BB962C8B-B14F-4D97-AF65-F5344CB8AC3E}">
        <p14:creationId xmlns:p14="http://schemas.microsoft.com/office/powerpoint/2010/main" val="81556775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84032B-F23E-42E3-BCF8-8FEE45F5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EEED7-C204-461A-B05A-C76E02E8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优先挖掘四个非教学岗位池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02B0F-134A-4FFA-9122-E2FD8DA2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把 AI 投在高频、可核对、能够整合排班的流程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6B6C6-5A11-40AB-856A-45203CE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ECBF5-377A-4776-A218-8AA17547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083A1-86DE-456B-A08A-1D0C2F86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431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招生与市场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395A1-A16B-4192-ADBE-74EC7F46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431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知识库答复、摘要和跟进；跨校区共享排班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0F9DF0-3B06-4017-9EC5-1E3EE0B0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43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报名与教务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C0E62-53D9-4DA4-A79C-9521C930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432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材料识别、缺项工单和集中复核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715FE-4BA6-4641-9F90-05050B76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财务与人事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0AC86-D273-45EA-965A-BBC38C17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9433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票据预分类、制度问答与报表草稿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649D5-F40C-400E-BE17-F727655D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认定与国际材料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BBBCA-3A17-40E8-B002-36A24948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728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翻译、核验和异常分流，保留授权决定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B46B9-B494-4479-B1DE-E3B3BD70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9595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外包与临时用工单独核算已批准预算的实际减少，避免与员工岗位节约重复。</a:t>
            </a:r>
          </a:p>
        </p:txBody>
      </p:sp>
    </p:spTree>
    <p:extLst>
      <p:ext uri="{BB962C8B-B14F-4D97-AF65-F5344CB8AC3E}">
        <p14:creationId xmlns:p14="http://schemas.microsoft.com/office/powerpoint/2010/main" val="8401494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6BBF1-AC0A-48A1-B2A3-8448AAF4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26D98-F221-4690-9482-45CA7ED5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全球证据提示：工具节时不自动减员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9CB1FD-1F2D-4832-82B2-3BDD3CCE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真正兑现 200 万，需要流程、排班和岗位一起改变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96A7D-E63A-4AFB-B3A1-8A4667B2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C7F46-6047-4565-A9AB-277B8C41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7CBEA-522E-4C26-A986-955DDA48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28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14%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87F04A-1910-4B38-BEE4-621429AD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57450"/>
            <a:ext cx="8286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NBER 客服岗位处理效率提升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944C02-4982-4D25-B71F-06E6A938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28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 小时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35402B-E577-43C0-B717-DAC62119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67075"/>
            <a:ext cx="828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跨 66 家企业试验中，使用者每周邮件时间下降；任务结构未自动变化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7D33F-9346-4C93-A388-12950EF0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228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未检出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2A5BC-03C2-4301-A63A-8B5ADCF4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76725"/>
            <a:ext cx="828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秘鲁 1,269 名教师随机试验未测得核心教学任务节时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999E2-29A4-4323-A715-A334298E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4832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第 15 天核底数；第 90 天核岗位上限；第 12 个月核年化工资现金节约。</a:t>
            </a:r>
          </a:p>
        </p:txBody>
      </p:sp>
    </p:spTree>
    <p:extLst>
      <p:ext uri="{BB962C8B-B14F-4D97-AF65-F5344CB8AC3E}">
        <p14:creationId xmlns:p14="http://schemas.microsoft.com/office/powerpoint/2010/main" val="20201788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8D48C6-80EF-4D4F-A087-B1219B1C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8DA0B-8D52-4720-BB81-D78F6BB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76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2232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研究与政策来源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770DD8-3C07-4F80-A410-424AAF29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所有外部事实均可回溯到原始材料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8FBBD-83BA-43BE-8E40-7A381282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广东江南理工教育集团  ·  AI 人力降本 200 万目标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82B5D-D252-40C9-9C8E-C7743D66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6870"/>
                </a:solidFill>
                <a:latin typeface="Microsoft YaHei"/>
                <a:ea typeface="Microsoft YaHei"/>
                <a:cs typeface="Microsoft YaHei"/>
              </a:defRPr>
            </a:pPr>
            <a: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9B60B-5DB3-4769-90FD-2098CFE1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NBER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D54B3-A0EC-4B86-8707-58FBA518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0574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生成式 AI 在客服岗位的实证研究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12DD7-6DD4-45B2-B14B-5D7647BF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世界银行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485D09-458C-44CE-B091-33522F47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4288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尼日利亚高中 AI 辅导随机试验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78F7DE-D54B-4407-A332-61B5CCE1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NBER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E64D4-0A82-4184-8959-831B2F7F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003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跨企业 AI 工作模式随机试验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2965BD-2511-4334-85B8-09D0A9EB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718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世界银行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9152F-3FE5-4115-A818-8F1BFE73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1718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秘鲁教师 AI 随机试验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558E21-4572-4A4C-8121-61AB037C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UNESCO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A7D850-B16E-4DE3-9276-1B14FDF0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433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生成式 AI 教育与研究指南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F4CE4-5A05-4849-9CDD-5CC87C58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147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OECD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E132A9-65F0-4EFB-9C7E-5CA3FAF8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9147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TALIS 2024 教师调查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145217-6908-486A-8E89-051B4421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中国网信网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C6B42-16F7-4CC5-84A2-EE32C632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86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中华人民共和国个人信息保护法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DAC59B-ADFD-43EB-BCF1-9963590E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教育部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C888EA-ED5B-4AD6-A612-FDAC5B8C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6577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智慧教育平台个人信息保护标准通知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AB0DC4-D47C-4388-A4BE-6D4435BB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29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人社部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797DEA-A024-4500-95F2-B078E67C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292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中华人民共和国劳动合同法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7924F2-4F5C-499E-9662-6E5AE839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006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教育部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B745FA-E3E6-4744-BB05-FB5A8932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4006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民办教育促进法实施条例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7B090-4C8A-43BA-86C9-3A2E50B4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78653"/>
                </a:solidFill>
                <a:latin typeface="Microsoft YaHei"/>
                <a:ea typeface="Microsoft YaHei"/>
                <a:cs typeface="Microsoft YaHei"/>
              </a:defRPr>
            </a:pPr>
            <a:r>
              <a:t>人社部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1D06DC-F0CA-43D2-8BCC-B45DE435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7721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4212B"/>
                </a:solidFill>
                <a:latin typeface="Microsoft YaHei"/>
                <a:ea typeface="Microsoft YaHei"/>
                <a:cs typeface="Microsoft YaHei"/>
              </a:defRPr>
            </a:pPr>
            <a:r>
              <a:t>技工院校设置标准</a:t>
            </a:r>
          </a:p>
        </p:txBody>
      </p:sp>
    </p:spTree>
    <p:extLst>
      <p:ext uri="{BB962C8B-B14F-4D97-AF65-F5344CB8AC3E}">
        <p14:creationId xmlns:p14="http://schemas.microsoft.com/office/powerpoint/2010/main" val="9778533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2026-09-19T00:43:28.6200000Z</dcterms:created>
  <dcterms:modified xsi:type="dcterms:W3CDTF">2026-09-19T00:43:28.6200000Z</dcterms:modified>
</coreProperties>
</file>