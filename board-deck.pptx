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523e913d44fd9" /><Relationship Type="http://schemas.openxmlformats.org/officeDocument/2006/relationships/extended-properties" Target="/docProps/app.xml" Id="Rff72cb592faa42b1" /><Relationship Type="http://schemas.openxmlformats.org/officeDocument/2006/relationships/officeDocument" Target="/ppt/presentation.xml" Id="R0a7ebd6b41874b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95afa624b49db"/>
  </p:sldMasterIdLst>
  <p:notesMasterIdLst>
    <p:notesMasterId xmlns:r="http://schemas.openxmlformats.org/officeDocument/2006/relationships" r:id="R84a71871709c4176"/>
  </p:notesMasterIdLst>
  <p:sldIdLst>
    <p:sldId xmlns:r="http://schemas.openxmlformats.org/officeDocument/2006/relationships" id="256" r:id="Refe25534c32046d2"/>
    <p:sldId xmlns:r="http://schemas.openxmlformats.org/officeDocument/2006/relationships" id="257" r:id="R9969af65764d4e6f"/>
    <p:sldId xmlns:r="http://schemas.openxmlformats.org/officeDocument/2006/relationships" id="258" r:id="Rc43236b7a2eb4400"/>
    <p:sldId xmlns:r="http://schemas.openxmlformats.org/officeDocument/2006/relationships" id="259" r:id="R2a6ebadb156d4a3b"/>
    <p:sldId xmlns:r="http://schemas.openxmlformats.org/officeDocument/2006/relationships" id="260" r:id="Rc0982af930234d87"/>
    <p:sldId xmlns:r="http://schemas.openxmlformats.org/officeDocument/2006/relationships" id="261" r:id="R28a43899c40e4901"/>
    <p:sldId xmlns:r="http://schemas.openxmlformats.org/officeDocument/2006/relationships" id="262" r:id="Rc1515dfce2ea405d"/>
    <p:sldId xmlns:r="http://schemas.openxmlformats.org/officeDocument/2006/relationships" id="263" r:id="Rb50db109d5a8459a"/>
    <p:sldId xmlns:r="http://schemas.openxmlformats.org/officeDocument/2006/relationships" id="264" r:id="R8a45f1d9afad4866"/>
    <p:sldId xmlns:r="http://schemas.openxmlformats.org/officeDocument/2006/relationships" id="265" r:id="R9f23073b2a544353"/>
    <p:sldId xmlns:r="http://schemas.openxmlformats.org/officeDocument/2006/relationships" id="266" r:id="Rc035749c133e4d54"/>
    <p:sldId xmlns:r="http://schemas.openxmlformats.org/officeDocument/2006/relationships" id="267" r:id="Re04e2727d3c84554"/>
    <p:sldId xmlns:r="http://schemas.openxmlformats.org/officeDocument/2006/relationships" id="268" r:id="Rf23084c1ce474047"/>
    <p:sldId xmlns:r="http://schemas.openxmlformats.org/officeDocument/2006/relationships" id="269" r:id="R46eacb6fe65045e3"/>
    <p:sldId xmlns:r="http://schemas.openxmlformats.org/officeDocument/2006/relationships" id="270" r:id="R9d1ab2b3e61e4668"/>
    <p:sldId xmlns:r="http://schemas.openxmlformats.org/officeDocument/2006/relationships" id="271" r:id="R23d4f7f2ae53459d"/>
    <p:sldId xmlns:r="http://schemas.openxmlformats.org/officeDocument/2006/relationships" id="272" r:id="R20210241369b4846"/>
    <p:sldId xmlns:r="http://schemas.openxmlformats.org/officeDocument/2006/relationships" id="273" r:id="Rba6f6f5046b54929"/>
    <p:sldId xmlns:r="http://schemas.openxmlformats.org/officeDocument/2006/relationships" id="274" r:id="Rf1ab7f14797a4c49"/>
    <p:sldId xmlns:r="http://schemas.openxmlformats.org/officeDocument/2006/relationships" id="275" r:id="R625e6a1a42154574"/>
    <p:sldId xmlns:r="http://schemas.openxmlformats.org/officeDocument/2006/relationships" id="276" r:id="R30818e4902824e4d"/>
    <p:sldId xmlns:r="http://schemas.openxmlformats.org/officeDocument/2006/relationships" id="277" r:id="Ra99584d98a964c65"/>
    <p:sldId xmlns:r="http://schemas.openxmlformats.org/officeDocument/2006/relationships" id="278" r:id="R14d079d6e82843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fb3eba643c40c4" /><Relationship Type="http://schemas.openxmlformats.org/officeDocument/2006/relationships/slideMaster" Target="/ppt/slideMasters/slideMaster1.xml" Id="Rdd295afa624b49db" /><Relationship Type="http://schemas.openxmlformats.org/officeDocument/2006/relationships/notesMaster" Target="/ppt/notesMasters/notesMaster1.xml" Id="R84a71871709c4176" /><Relationship Type="http://schemas.openxmlformats.org/officeDocument/2006/relationships/presProps" Target="/ppt/presProps.xml" Id="R46a5a47be720492f" /><Relationship Type="http://schemas.openxmlformats.org/officeDocument/2006/relationships/tableStyles" Target="/ppt/tableStyles.xml" Id="Re8c74b5d94f14cc2" /><Relationship Type="http://schemas.openxmlformats.org/officeDocument/2006/relationships/slide" Target="/ppt/slides/slide1.xml" Id="Refe25534c32046d2" /><Relationship Type="http://schemas.openxmlformats.org/officeDocument/2006/relationships/slide" Target="/ppt/slides/slide2.xml" Id="R9969af65764d4e6f" /><Relationship Type="http://schemas.openxmlformats.org/officeDocument/2006/relationships/slide" Target="/ppt/slides/slide3.xml" Id="Rc43236b7a2eb4400" /><Relationship Type="http://schemas.openxmlformats.org/officeDocument/2006/relationships/slide" Target="/ppt/slides/slide4.xml" Id="R2a6ebadb156d4a3b" /><Relationship Type="http://schemas.openxmlformats.org/officeDocument/2006/relationships/slide" Target="/ppt/slides/slide5.xml" Id="Rc0982af930234d87" /><Relationship Type="http://schemas.openxmlformats.org/officeDocument/2006/relationships/slide" Target="/ppt/slides/slide6.xml" Id="R28a43899c40e4901" /><Relationship Type="http://schemas.openxmlformats.org/officeDocument/2006/relationships/slide" Target="/ppt/slides/slide7.xml" Id="Rc1515dfce2ea405d" /><Relationship Type="http://schemas.openxmlformats.org/officeDocument/2006/relationships/slide" Target="/ppt/slides/slide8.xml" Id="Rb50db109d5a8459a" /><Relationship Type="http://schemas.openxmlformats.org/officeDocument/2006/relationships/slide" Target="/ppt/slides/slide9.xml" Id="R8a45f1d9afad4866" /><Relationship Type="http://schemas.openxmlformats.org/officeDocument/2006/relationships/slide" Target="/ppt/slides/slide10.xml" Id="R9f23073b2a544353" /><Relationship Type="http://schemas.openxmlformats.org/officeDocument/2006/relationships/slide" Target="/ppt/slides/slide11.xml" Id="Rc035749c133e4d54" /><Relationship Type="http://schemas.openxmlformats.org/officeDocument/2006/relationships/slide" Target="/ppt/slides/slide12.xml" Id="Re04e2727d3c84554" /><Relationship Type="http://schemas.openxmlformats.org/officeDocument/2006/relationships/slide" Target="/ppt/slides/slide13.xml" Id="Rf23084c1ce474047" /><Relationship Type="http://schemas.openxmlformats.org/officeDocument/2006/relationships/slide" Target="/ppt/slides/slide14.xml" Id="R46eacb6fe65045e3" /><Relationship Type="http://schemas.openxmlformats.org/officeDocument/2006/relationships/slide" Target="/ppt/slides/slide15.xml" Id="R9d1ab2b3e61e4668" /><Relationship Type="http://schemas.openxmlformats.org/officeDocument/2006/relationships/slide" Target="/ppt/slides/slide16.xml" Id="R23d4f7f2ae53459d" /><Relationship Type="http://schemas.openxmlformats.org/officeDocument/2006/relationships/slide" Target="/ppt/slides/slide17.xml" Id="R20210241369b4846" /><Relationship Type="http://schemas.openxmlformats.org/officeDocument/2006/relationships/slide" Target="/ppt/slides/slide18.xml" Id="Rba6f6f5046b54929" /><Relationship Type="http://schemas.openxmlformats.org/officeDocument/2006/relationships/slide" Target="/ppt/slides/slide19.xml" Id="Rf1ab7f14797a4c49" /><Relationship Type="http://schemas.openxmlformats.org/officeDocument/2006/relationships/slide" Target="/ppt/slides/slide20.xml" Id="R625e6a1a42154574" /><Relationship Type="http://schemas.openxmlformats.org/officeDocument/2006/relationships/slide" Target="/ppt/slides/slide21.xml" Id="R30818e4902824e4d" /><Relationship Type="http://schemas.openxmlformats.org/officeDocument/2006/relationships/slide" Target="/ppt/slides/slide22.xml" Id="Ra99584d98a964c65" /><Relationship Type="http://schemas.openxmlformats.org/officeDocument/2006/relationships/slide" Target="/ppt/slides/slide23.xml" Id="R14d079d6e828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7d5df9fa9c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8c5ad96bc4e7a" /><Relationship Type="http://schemas.openxmlformats.org/officeDocument/2006/relationships/notesMaster" Target="/ppt/notesMasters/notesMaster1.xml" Id="R74bdda73149d42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bd0e5086744d7a" /><Relationship Type="http://schemas.openxmlformats.org/officeDocument/2006/relationships/notesMaster" Target="/ppt/notesMasters/notesMaster1.xml" Id="R694c1b9577d54e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2dc346c594d2d" /><Relationship Type="http://schemas.openxmlformats.org/officeDocument/2006/relationships/notesMaster" Target="/ppt/notesMasters/notesMaster1.xml" Id="Re377d56a426e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f60869f52f4f87" /><Relationship Type="http://schemas.openxmlformats.org/officeDocument/2006/relationships/notesMaster" Target="/ppt/notesMasters/notesMaster1.xml" Id="R5f9d3f7d49a24c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8db5732282460b" /><Relationship Type="http://schemas.openxmlformats.org/officeDocument/2006/relationships/notesMaster" Target="/ppt/notesMasters/notesMaster1.xml" Id="R4ab00fbdbd284f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68be7b96f4804" /><Relationship Type="http://schemas.openxmlformats.org/officeDocument/2006/relationships/notesMaster" Target="/ppt/notesMasters/notesMaster1.xml" Id="Rfaf5e2f0987844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96415c7f294334" /><Relationship Type="http://schemas.openxmlformats.org/officeDocument/2006/relationships/notesMaster" Target="/ppt/notesMasters/notesMaster1.xml" Id="R757d1438d12348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45037f566e40b2" /><Relationship Type="http://schemas.openxmlformats.org/officeDocument/2006/relationships/notesMaster" Target="/ppt/notesMasters/notesMaster1.xml" Id="R5c1a5d8b43e24c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1674b44b8041bc" /><Relationship Type="http://schemas.openxmlformats.org/officeDocument/2006/relationships/notesMaster" Target="/ppt/notesMasters/notesMaster1.xml" Id="R60f0acaccdfb40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db244a2fa64893" /><Relationship Type="http://schemas.openxmlformats.org/officeDocument/2006/relationships/notesMaster" Target="/ppt/notesMasters/notesMaster1.xml" Id="Rd1dacca86e2c40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8abe9230ef49c8" /><Relationship Type="http://schemas.openxmlformats.org/officeDocument/2006/relationships/notesMaster" Target="/ppt/notesMasters/notesMaster1.xml" Id="Rdafd42d4882c4b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9c5de2d3754a11" /><Relationship Type="http://schemas.openxmlformats.org/officeDocument/2006/relationships/notesMaster" Target="/ppt/notesMasters/notesMaster1.xml" Id="Rdf1239ed1a2342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77fd04021a45d1" /><Relationship Type="http://schemas.openxmlformats.org/officeDocument/2006/relationships/notesMaster" Target="/ppt/notesMasters/notesMaster1.xml" Id="Rfc9a8b8b9b9749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4b2d6a2395472f" /><Relationship Type="http://schemas.openxmlformats.org/officeDocument/2006/relationships/notesMaster" Target="/ppt/notesMasters/notesMaster1.xml" Id="Rc535d12891dd4e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7fae03fd364289" /><Relationship Type="http://schemas.openxmlformats.org/officeDocument/2006/relationships/notesMaster" Target="/ppt/notesMasters/notesMaster1.xml" Id="Re745264d02ad49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d4e010802c4b5f" /><Relationship Type="http://schemas.openxmlformats.org/officeDocument/2006/relationships/notesMaster" Target="/ppt/notesMasters/notesMaster1.xml" Id="R5d76d807b9b54b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1a814590084b99" /><Relationship Type="http://schemas.openxmlformats.org/officeDocument/2006/relationships/notesMaster" Target="/ppt/notesMasters/notesMaster1.xml" Id="R483769d6ab214e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aedccf0b404452" /><Relationship Type="http://schemas.openxmlformats.org/officeDocument/2006/relationships/notesMaster" Target="/ppt/notesMasters/notesMaster1.xml" Id="Rd298b524cedd44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b2b972a62343e3" /><Relationship Type="http://schemas.openxmlformats.org/officeDocument/2006/relationships/notesMaster" Target="/ppt/notesMasters/notesMaster1.xml" Id="R459db91a887140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43b77f49cb408b" /><Relationship Type="http://schemas.openxmlformats.org/officeDocument/2006/relationships/notesMaster" Target="/ppt/notesMasters/notesMaster1.xml" Id="R9887c05fed7f4b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f10bce93a94c33" /><Relationship Type="http://schemas.openxmlformats.org/officeDocument/2006/relationships/notesMaster" Target="/ppt/notesMasters/notesMaster1.xml" Id="R230fa6af1ba14b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f8dd6565784e18" /><Relationship Type="http://schemas.openxmlformats.org/officeDocument/2006/relationships/notesMaster" Target="/ppt/notesMasters/notesMaster1.xml" Id="Re0677d6123d64b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48d691a8d2499b" /><Relationship Type="http://schemas.openxmlformats.org/officeDocument/2006/relationships/notesMaster" Target="/ppt/notesMasters/notesMaster1.xml" Id="R1cb06ba02ff4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封面为 AI 生成的概念视觉，不代表集团真实校区。集团业务与人员规模来自用户提供的信息。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这是决策口径，当前缺少集团岗位、工资和工作量基线。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来源：NBER https://www.nber.org/system/files/working_papers/w31161/revisions/w31161.rev0.pdf</a:t>
            </a:r>
          </a:p>
          <a:p xmlns:a="http://schemas.openxmlformats.org/drawingml/2006/main">
            <a:r>
              <a:t>世界银行 https://documents1.worldbank.org/curated/en/099548105192529324/pdf/IDU-c09f40d8-9ff8-42dc-b315-591157499be7.pdf。0.31 标准差为包括英语、AI 知识和数字技能的综合评估结果。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试点设计建议。综合高中教学活动须遵守教育部相关指导，教师保留最终教学判断。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以上为建议流程和职责边界。集团当前系统、证照、资质和业务结构未核实。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人数为项目组织建议，不代表集团当前部门人数。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隐私与供应商要求参考《个人信息保护法》 https://www.cac.gov.cn/2021-08/20/c_1631050028355286.htm，教育部智慧教育平台个人信息保护标准通知 https://www.moe.gov.cn/srcsite/A16/s3342/202507/t20250731_1200912.html。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建议进度，需按集团实际学期、招生周期和系统准备情况调整。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指标为建议。需先定义分母、数据来源和观察周期，再确定目标。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全部数字为情景假设，不是集团实测。20,700=300×1.5×46；11.5=20,700÷1,800。工时价值仅在确有再分配价值或可避免成本时计入。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法律依据：《个人信息保护法》 https://www.cac.gov.cn/2021-08/20/c_1631050028355286.htm；教育行业标准 https://www.moe.gov.cn/srcsite/A16/s3342/202507/t20250731_1200912.html；UNESCO 指南 https://www.unesco.org/en/articles/guidance-generative-ai-education-and-research。具体适用须结合集团业务、系统和法律意见判断。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岗位测算模板为配套可填报工作簿。公式属于建议模型；每个岗位的最低配置需核实。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岗位分类为建议；集团实际岗位结构未提供。民办学校教师资质与专任教师要求见 https://www.moe.gov.cn/jyb_sjzl/sjzl_zcfg/zcfg_jyxzfg/202110/t20211029_575965.html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《劳动合同法》 https://www.mohrss.gov.cn/xxgk2020/fdzdgknr/zcfg/fl/202011/t20201102_394622_wap.html；《民办教育促进法实施条例》 https://www.moe.gov.cn/jyb_sjzl/sjzl_zcfg/zcfg_jyxzfg/202110/t20211029_575965.html。法律适用须由集团法务按具体主体及事实判断。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对照方式须在第 15 天依据业务量决定，避免季节性与样本结构造成虚假提升。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权重为建议采购评分，不是外部事实。必要条件包括数据处理协议、权限、审计日志、删除与导出能力。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建议进度，须根据集团学期、招生周期、办学主体和试点结果调整。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决策请求为建议；并非已经获得集团授权。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万、9 个月、35 万、25 万均为可填报情景假设，未取得集团工资、合同与岗位台账。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77,400 小时是将43岗按每岗1,800小时估算的必要容量检验，不能单凭工时推导具体人员退出。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这是候选流程池，岗位人数和节约金额需15天核实。教师质量试点不计入默认减编池。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NBER 客服 https://www.nber.org/system/files/working_papers/w31161/revisions/w31161.rev0.pdf</a:t>
            </a:r>
          </a:p>
          <a:p xmlns:a="http://schemas.openxmlformats.org/drawingml/2006/main">
            <a:r>
              <a:t>NBER 跨企业试验 https://www.nber.org/papers/w33795</a:t>
            </a:r>
          </a:p>
          <a:p xmlns:a="http://schemas.openxmlformats.org/drawingml/2006/main">
            <a:r>
              <a:t>世界银行秘鲁教师随机试验 https://reproducibility.worldbank.org/catalog/608。不同研究不能直接转化为集团减员比例。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NBER — 生成式 AI 在客服岗位的实证研究 — https://www.nber.org/system/files/working_papers/w31161/revisions/w31161.rev0.pdf</a:t>
            </a:r>
          </a:p>
          <a:p xmlns:a="http://schemas.openxmlformats.org/drawingml/2006/main">
            <a:r>
              <a:t>世界银行 — 尼日利亚高中 AI 辅导随机试验 — https://documents1.worldbank.org/curated/en/099548105192529324/pdf/IDU-c09f40d8-9ff8-42dc-b315-591157499be7.pdf</a:t>
            </a:r>
          </a:p>
          <a:p xmlns:a="http://schemas.openxmlformats.org/drawingml/2006/main">
            <a:r>
              <a:t>NBER — 跨企业 AI 工作模式随机试验 — https://www.nber.org/papers/w33795</a:t>
            </a:r>
          </a:p>
          <a:p xmlns:a="http://schemas.openxmlformats.org/drawingml/2006/main">
            <a:r>
              <a:t>世界银行 — 秘鲁教师 AI 随机试验 — https://reproducibility.worldbank.org/catalog/608</a:t>
            </a:r>
          </a:p>
          <a:p xmlns:a="http://schemas.openxmlformats.org/drawingml/2006/main">
            <a:r>
              <a:t>UNESCO — 生成式 AI 教育与研究指南 — https://www.unesco.org/en/articles/guidance-generative-ai-education-and-research</a:t>
            </a:r>
          </a:p>
          <a:p xmlns:a="http://schemas.openxmlformats.org/drawingml/2006/main">
            <a:r>
              <a:t>OECD — TALIS 2024 教师调查 — https://www.oecd.org/en/publications/results-from-talis-2024_90df6235-en.html</a:t>
            </a:r>
          </a:p>
          <a:p xmlns:a="http://schemas.openxmlformats.org/drawingml/2006/main">
            <a:r>
              <a:t>中国网信网 — 中华人民共和国个人信息保护法 — https://www.cac.gov.cn/2021-08/20/c_1631050028355286.htm</a:t>
            </a:r>
          </a:p>
          <a:p xmlns:a="http://schemas.openxmlformats.org/drawingml/2006/main">
            <a:r>
              <a:t>教育部 — 智慧教育平台个人信息保护标准通知 — https://www.moe.gov.cn/srcsite/A16/s3342/202507/t20250731_1200912.html</a:t>
            </a:r>
          </a:p>
          <a:p xmlns:a="http://schemas.openxmlformats.org/drawingml/2006/main">
            <a:r>
              <a:t>人社部 — 中华人民共和国劳动合同法 — https://www.mohrss.gov.cn/xxgk2020/fdzdgknr/zcfg/fl/202011/t20201102_394622_wap.html</a:t>
            </a:r>
          </a:p>
          <a:p xmlns:a="http://schemas.openxmlformats.org/drawingml/2006/main">
            <a:r>
              <a:t>教育部 — 民办教育促进法实施条例 — https://www.moe.gov.cn/jyb_sjzl/sjzl_zcfg/zcfg_jyxzfg/202110/t20211029_575965.html</a:t>
            </a:r>
          </a:p>
          <a:p xmlns:a="http://schemas.openxmlformats.org/drawingml/2006/main">
            <a:r>
              <a:t>人社部 — 技工院校设置标准 — https://www.mohrss.gov.cn/xxgk2020/fdzdgknr/zcfg/gfxwj/rcrs/202312/t20231207_510180.html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f1b5013a9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2a02b87254201" /><Relationship Type="http://schemas.openxmlformats.org/officeDocument/2006/relationships/slideLayout" Target="/ppt/slideLayouts/slideLayout1.xml" Id="R78ffb724a4b3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fb724a4b3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d053331634705" /><Relationship Type="http://schemas.openxmlformats.org/officeDocument/2006/relationships/image" Target="/ppt/media/image.png" Id="Rf471798113314f35" /><Relationship Type="http://schemas.openxmlformats.org/officeDocument/2006/relationships/notesSlide" Target="/ppt/notesSlides/notesSlide1.xml" Id="Rac5ea278b95c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b2361fc7146d1" /><Relationship Type="http://schemas.openxmlformats.org/officeDocument/2006/relationships/notesSlide" Target="/ppt/notesSlides/notesSlide2.xml" Id="Rfabdca3651ef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67520e968401a" /><Relationship Type="http://schemas.openxmlformats.org/officeDocument/2006/relationships/notesSlide" Target="/ppt/notesSlides/notesSlide3.xml" Id="R5354fadc6e8943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b4ad3e0fc44bd" /><Relationship Type="http://schemas.openxmlformats.org/officeDocument/2006/relationships/notesSlide" Target="/ppt/notesSlides/notesSlide4.xml" Id="R055cbdab4bf6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583f74d3a40dc" /><Relationship Type="http://schemas.openxmlformats.org/officeDocument/2006/relationships/notesSlide" Target="/ppt/notesSlides/notesSlide5.xml" Id="R411bd9626e8244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2ae554ee44aa5" /><Relationship Type="http://schemas.openxmlformats.org/officeDocument/2006/relationships/notesSlide" Target="/ppt/notesSlides/notesSlide6.xml" Id="R51f7329295024b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9d4f4d50b4e7d" /><Relationship Type="http://schemas.openxmlformats.org/officeDocument/2006/relationships/notesSlide" Target="/ppt/notesSlides/notesSlide7.xml" Id="R67f1e4d597ea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13fca95414944" /><Relationship Type="http://schemas.openxmlformats.org/officeDocument/2006/relationships/notesSlide" Target="/ppt/notesSlides/notesSlide8.xml" Id="R04fca4ae42c841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4b73d6f474f92" /><Relationship Type="http://schemas.openxmlformats.org/officeDocument/2006/relationships/notesSlide" Target="/ppt/notesSlides/notesSlide9.xml" Id="R68c8c09216a9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050ba97ca4776" /><Relationship Type="http://schemas.openxmlformats.org/officeDocument/2006/relationships/notesSlide" Target="/ppt/notesSlides/notesSlide10.xml" Id="R5fd8da4e9e80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ff73b11fc4c65" /><Relationship Type="http://schemas.openxmlformats.org/officeDocument/2006/relationships/notesSlide" Target="/ppt/notesSlides/notesSlide11.xml" Id="Ra60348474a1d4c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4e9829b834783" /><Relationship Type="http://schemas.openxmlformats.org/officeDocument/2006/relationships/notesSlide" Target="/ppt/notesSlides/notesSlide12.xml" Id="Re7badfdcbfe446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45682114a417e" /><Relationship Type="http://schemas.openxmlformats.org/officeDocument/2006/relationships/notesSlide" Target="/ppt/notesSlides/notesSlide13.xml" Id="Ref9fc69e1e3542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909253fbc428a" /><Relationship Type="http://schemas.openxmlformats.org/officeDocument/2006/relationships/notesSlide" Target="/ppt/notesSlides/notesSlide14.xml" Id="R9497be0f94ec4e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95566de9b4972" /><Relationship Type="http://schemas.openxmlformats.org/officeDocument/2006/relationships/notesSlide" Target="/ppt/notesSlides/notesSlide15.xml" Id="R62994eba229b4c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4cd8604d647f2" /><Relationship Type="http://schemas.openxmlformats.org/officeDocument/2006/relationships/notesSlide" Target="/ppt/notesSlides/notesSlide16.xml" Id="Rb99858610a644d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50960880e4d61" /><Relationship Type="http://schemas.openxmlformats.org/officeDocument/2006/relationships/notesSlide" Target="/ppt/notesSlides/notesSlide17.xml" Id="Ra5dd8bbfb1a14d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2b85a1ef4bda" /><Relationship Type="http://schemas.openxmlformats.org/officeDocument/2006/relationships/notesSlide" Target="/ppt/notesSlides/notesSlide18.xml" Id="R63cffab49da445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1b1faa094243" /><Relationship Type="http://schemas.openxmlformats.org/officeDocument/2006/relationships/notesSlide" Target="/ppt/notesSlides/notesSlide19.xml" Id="Ra6330fc5fd3f4f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b230369e24c17" /><Relationship Type="http://schemas.openxmlformats.org/officeDocument/2006/relationships/notesSlide" Target="/ppt/notesSlides/notesSlide20.xml" Id="R5f11fd71e58d4c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c6acfa7b14087" /><Relationship Type="http://schemas.openxmlformats.org/officeDocument/2006/relationships/notesSlide" Target="/ppt/notesSlides/notesSlide21.xml" Id="Rff7d0b41f92f46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44c20f03f4986" /><Relationship Type="http://schemas.openxmlformats.org/officeDocument/2006/relationships/notesSlide" Target="/ppt/notesSlides/notesSlide22.xml" Id="Raca58bc85f6b41f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33de204ea41dc" /><Relationship Type="http://schemas.openxmlformats.org/officeDocument/2006/relationships/notesSlide" Target="/ppt/notesSlides/notesSlide23.xml" Id="R91a60e2a42fb43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1798113314f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D4BA8-0ECA-475E-BCB7-846F480E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A9BE2-8BF8-4380-B42A-1264449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AI+编制优化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累计压减 43 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BB272-3FF3-44DA-9FEE-9049581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3C09A"/>
                </a:solidFill>
                <a:latin typeface="Microsoft YaHei"/>
                <a:ea typeface="Microsoft YaHei"/>
                <a:cs typeface="Microsoft YaHei"/>
              </a:defRPr>
            </a:pPr>
            <a:r>
              <a:t>300 人团队 · 12 个月兑现路线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1E0F4-D9D6-4CD2-B485-392D5F6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483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董事长决策稿  ·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941485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A1AAD-D177-4D16-827B-AAD68DC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EF42E-1555-4F75-841E-BF406541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编制优化先算清四层账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46F91-10B3-4DF1-A41C-D192137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任务节时与实际减编之间，有服务、岗位和法律约束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25A47-B6C1-42F1-92E3-2C0E1A2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214F4-C44D-48A8-8D1B-60F13C1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C091-6D91-48C1-AA4B-AD11641C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51564-502A-485A-96CC-810B1E61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28875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任务节时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45677-C374-45E6-9015-8CF3972A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每件任务节省多少人工分钟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2329B-2A5F-4ABF-96B0-44DEDDD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CD26C-478F-4684-8BB6-4672FEC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可释放产能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BE947-202F-49B1-854F-878E3ADF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能否在同一岗位和排班中合并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A445C-D01F-4E36-9BB1-A3A8160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FE120-BB4B-45F0-829D-405CB67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38625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可调整岗位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B7CE-1676-4F68-BD2E-D1C268A7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扣除教学、资质与服务底线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23542-533C-4C45-92A2-308DE04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B73C4-5227-40B0-86C7-75DFB88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实际现金节约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6F1B6-D50D-4378-94AD-00A54469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435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只计算已实际离岗的工资成本</a:t>
            </a:r>
          </a:p>
        </p:txBody>
      </p:sp>
    </p:spTree>
    <p:extLst>
      <p:ext uri="{BB962C8B-B14F-4D97-AF65-F5344CB8AC3E}">
        <p14:creationId xmlns:p14="http://schemas.microsoft.com/office/powerpoint/2010/main" val="56315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F4CFE-BF5B-4D30-9CD7-7C7ABBDA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1C87A-2011-4DC4-909C-256FF02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国际证据指向两类机会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3F1A9-CC73-426A-8452-AEDE0BDB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客服效率可以改善；学习效果需要教师参与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5B2B-9180-4648-871B-A024177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AD38E-847C-4D9D-A2CB-0FB8055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70657-E5E9-4787-8D97-ADF737ED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571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DA6D9-71B6-4028-904A-A3A0F598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客服人员每小时解决问题的平均提升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96EEA-E129-4C1D-BC91-8FB4BD00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0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5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0.31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A9314-7097-438F-B34B-BDCFA113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标准差的综合学习增益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8C060-4BA9-4B6B-8394-37728EB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NBER：5,179 名客服人员，收益主要集中在经验较少者。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65884-5643-4132-BF8A-12D2C3D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世界银行：尼日利亚高中生六周试验，AI 辅导有教师指导。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F1086-8C20-44E8-A2FB-4558311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这两项结果用于选择试点，不作为集团收益承诺。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2014761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B8E86-9224-4495-B8B7-17F76354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850E3-8832-4D01-88D1-75D5A8E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第一批聚焦三个可控流程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D2EA4-6727-4945-A7BF-7255D33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选高频、可核对、可计时的任务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8D103-3C39-4D2C-939B-1925A35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850B4-1EC8-401B-ADC9-A5185C5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1F0E-0512-40C5-9671-1BF713D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7DB8E-BF2E-4635-879A-B593997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952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标准答复草稿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咨询摘要与跟进提醒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人工核实并发送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931C9-2ADB-4A54-B950-FF3CBBD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教务材料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336E2-06D5-4967-8570-BF16EE4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3048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材料缺项提示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申请文件整理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异常交给授权人员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2AE4F-6A0C-4A95-947D-5A82A4D9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行政共享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2C7A5-D73B-4166-BD91-BA83C45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238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票据与报表草稿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制度问答及任务分流</a:t>
            </a:r>
          </a:p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审批继续由人完成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E58F3-10DE-4F9F-A301-2386FE6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每个流程都要保留原流程或对照组，避免把季节波动误认成 AI 收益。</a:t>
            </a:r>
          </a:p>
        </p:txBody>
      </p:sp>
    </p:spTree>
    <p:extLst>
      <p:ext uri="{BB962C8B-B14F-4D97-AF65-F5344CB8AC3E}">
        <p14:creationId xmlns:p14="http://schemas.microsoft.com/office/powerpoint/2010/main" val="1384750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2E98-4669-48FF-943F-4A63E17D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A4B7-DA5F-4E16-9BCE-06FFD61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五条业务线各有清晰边界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48BEC-1EBD-4544-9CAC-43A00E3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把 AI 放在资料处理与辅助判断的位置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69192-59C5-4863-BD0B-563D296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38F31-13CC-4129-995E-5FB54AD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2A3B2-ED4D-4A4C-90C5-A6BA8452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招生与咨询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AEA13-A555-4879-ACC9-72442E71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回答已核准的课程信息；顾问决定是否适合学生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4BC9C-DBCF-4AD0-ADF4-0D6C9929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综合高中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EA0E7-BB85-4BDA-8E51-61E392F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辅助备课和分层练习；教师评价学生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DC96F-494F-4AE6-900F-29BDDF89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职业教育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D41D9-07E3-43FA-8714-6847981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更新实训任务草稿；专业负责人审定技能标准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E8769-083C-4C64-B475-11E7702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技能认定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D2FCB-DEBF-4573-A96A-73183557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01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检查材料和排程；考评与认定由授权人员负责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86965-7DA5-4DF4-AF28-2B01ECD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国际教育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87C05-D60F-419E-B478-363BA87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054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翻译与材料核查；顾问确认院校和签证要求</a:t>
            </a:r>
          </a:p>
        </p:txBody>
      </p:sp>
    </p:spTree>
    <p:extLst>
      <p:ext uri="{BB962C8B-B14F-4D97-AF65-F5344CB8AC3E}">
        <p14:creationId xmlns:p14="http://schemas.microsoft.com/office/powerpoint/2010/main" val="647454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74EBF-F3DF-4352-B52F-3C50B0A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A7969-B42E-4486-8BC9-40736B34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300 人的岗位调查方式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F572C-6F38-491B-9C80-0B204D0D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先按法人、校区与岗位拆解人数，再测算调整空间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1B209-9B91-49FA-95B0-1E775327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5405A-59F9-4141-B5D2-071098AE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88A22-9A12-4AAB-A89B-3CB0E910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4–6 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2DA93-C53A-4E10-AA07-EEB549C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33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集团项目小组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6115D-7BC9-4A14-BDFB-B5E5BFD9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从现有团队抽调，覆盖业务、教学、IT 和合规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2B67-BB36-47F1-9B93-7DDDD027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60 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D5347-4361-44BF-B90B-3C24450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跨岗位试点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5CE9E-2D25-45E9-988E-1D4D73A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48125"/>
            <a:ext cx="4429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覆盖校区、资历和岗位差异，按任务训练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F667-6788-41DB-9F51-8A844EED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两周内核对 300 人岗位分布；每个岗位填任务量、最低覆盖与年全成本。</a:t>
            </a:r>
          </a:p>
        </p:txBody>
      </p:sp>
    </p:spTree>
    <p:extLst>
      <p:ext uri="{BB962C8B-B14F-4D97-AF65-F5344CB8AC3E}">
        <p14:creationId xmlns:p14="http://schemas.microsoft.com/office/powerpoint/2010/main" val="1236483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12736-B208-4551-92F6-55F46FC0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DE37A-41BD-4B86-A087-EDAD382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技术架构从可信资料开始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E8627-5526-41F2-8D01-8160C3C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采购通用能力，保留集团自己的知识和工作流程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6229D-E2AF-4D38-BAFF-2288C05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03952-BE51-4E6E-A743-98A0029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7F5D3-8EC5-444F-A7F0-E76C4D3F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已审核资料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035CE-8F57-46DC-A6FE-D7B7034C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课程、政策、收费、合作院校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0657E-4DBF-4432-ACBC-AC0FAEDD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员工工作台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D7523-C28B-4299-8234-278D607B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按岗位授权，答案附资料来源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894C2-66CC-45B5-B45B-069E424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D6A4C-B10F-434F-A47F-36120E6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招生、教务、课程、考务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987B2-B703-4CF0-B59F-4D17E9C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质量控制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4B893-FEF7-4BAC-B52E-FAECA191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抽检、投诉、错误回收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90B1A-038B-4C87-B515-DC76E0B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842AA-13FC-4745-B8D8-240DCE3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10200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数据分类、日志与供应商审查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2F252-0976-4D19-A1C6-56ADCC2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E841A-1C1F-4356-8E13-DFFA1304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10200"/>
            <a:ext cx="3028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对外答复与重要决定留人</a:t>
            </a:r>
          </a:p>
        </p:txBody>
      </p:sp>
    </p:spTree>
    <p:extLst>
      <p:ext uri="{BB962C8B-B14F-4D97-AF65-F5344CB8AC3E}">
        <p14:creationId xmlns:p14="http://schemas.microsoft.com/office/powerpoint/2010/main" val="552826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C5F10-8923-442A-8E15-62DC9B9B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DF83E-804C-484E-9C59-2844BB13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90 天分四步推进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47D03-CC7B-48D6-A23B-968DB49B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每一步都交付可以核查的证据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4364A-B5C2-489B-849B-4CE69FB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D036-2494-4A38-9FD7-19DDE51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C4071-E5AC-4F7F-A6EA-0E32479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1–15 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17EA-5CFD-4C6A-ABB2-1AE1A5F0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量基线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9B5E1-C621-4581-AE73-54BDE8F8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任务量、耗时、差错、系统和数据权限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76D7B-C73A-49A6-B902-3B602709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16–30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00E1C-5684-457B-A776-FF15C4C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81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建知识库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0A70C-529D-44D9-A6F0-16A7BD9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8137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审核资料、设置转人工、用历史案例测试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261E4-1953-4598-B49E-5AE5C8A1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31–60 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52B4-69E6-4A91-B3A7-FB55208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86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60 人试点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679D1-93BB-4C82-A8D4-8CD37D1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对照原流程，每周核查收益与风险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F3AC5-5BF2-4215-AF7C-02FA5F47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61–90 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2E385-4FD1-4DC0-8686-0A69E8F8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91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决定扩展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5A1E3-3E93-4366-ADA0-955F0C1D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9112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核算净收益，扩展、修改或停止</a:t>
            </a:r>
          </a:p>
        </p:txBody>
      </p:sp>
    </p:spTree>
    <p:extLst>
      <p:ext uri="{BB962C8B-B14F-4D97-AF65-F5344CB8AC3E}">
        <p14:creationId xmlns:p14="http://schemas.microsoft.com/office/powerpoint/2010/main" val="1031530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54DBC-66EE-44CA-A05E-31F6980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DEFFB-5BF8-4F86-8D6B-4228C610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每周看一张经营与质量仪表盘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244E7-C07A-420A-A6E6-63EB84C2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效率、增长和教育结果必须一起看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1437-A9C1-4ABB-B7E7-C45A18F0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B0ADB-521A-4516-BAE3-19D9572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4C3B6-324A-458E-BBAB-ABCA6B6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CAF4D-B00B-4308-B81B-09B918B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首次响应时间、有效咨询转报名率、投诉率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8DBF-6999-4C9A-AA09-DE46AFE3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745D-DFA0-4655-BCE3-B4E20AE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备课时间、作业质量、学习结果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B2AB8-2869-4DD2-AD27-76D1D2F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运营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D2638-F44B-479A-B87B-D1D3757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处理时长、一次通过率、复核差错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8A0D2-C8AB-422B-9155-E7D4B4B4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财务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2AB89-3F3C-4917-A373-BC3836C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672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增量毛利、工具成本、人工复核成本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90E23-7E3C-44A6-A5E0-3ED1B54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人员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D0EB7-D280-4075-A7DF-E8CFC16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625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使用率、工作负担、学生服务时间</a:t>
            </a:r>
          </a:p>
        </p:txBody>
      </p:sp>
    </p:spTree>
    <p:extLst>
      <p:ext uri="{BB962C8B-B14F-4D97-AF65-F5344CB8AC3E}">
        <p14:creationId xmlns:p14="http://schemas.microsoft.com/office/powerpoint/2010/main" val="1548024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2FB7E-7122-46A1-9ABF-C52128B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1F59E-7AA1-45B8-9BF3-C6042B9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收益测算先分清产能与现金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D5612-A11E-4034-A99D-F4C8DB9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示例只说明计算方法，不能直接转换成可裁岗位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6CB1A-5F0C-457B-A694-88D8AD0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362B4-FE7D-4333-9215-0BFC5AA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F27CB-DFC2-4345-883B-6770B7E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300 人 × 每周 1.5 小时 × 46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B485F-E6F3-4262-AF37-C29592C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20,700 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20AA1-ED63-4213-A220-41336EA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按每年 1,800 小时折算，约为 11.5 个全职岗位的工作量。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9C71B-143B-4AB9-A7AD-AA0176C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现金公式：实际离岗岗位 × 年全成本 − 过渡成本 − AI 年度成本</a:t>
            </a:r>
          </a:p>
        </p:txBody>
      </p:sp>
    </p:spTree>
    <p:extLst>
      <p:ext uri="{BB962C8B-B14F-4D97-AF65-F5344CB8AC3E}">
        <p14:creationId xmlns:p14="http://schemas.microsoft.com/office/powerpoint/2010/main" val="944277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299D2-47F4-4E2A-AED9-21A8F948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BA11B-12FB-42D7-B047-192960E9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四条必须守住的边界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1C09-8748-4C6E-A53D-2BD912A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减少错误决策和数据风险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3A2DE-7CD3-437D-BA2B-A712AE14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34827-154D-46FF-A476-B8543542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3C240-2C1A-4FCA-90A3-D20D125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ABB49-1E35-4495-87AE-CA63554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80442-B815-4ABB-9A18-6A85A4F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28875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个人信息先分类；敏感资料不得随意送入公共工具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740CB-697D-4D87-9584-9803C7E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D50C4-6A53-48C6-85A5-7C468051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教学评价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C782F-C428-4C79-8835-D33B8F3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教师审定内容与评价，不让模型独立决定结果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A4C66-B2B2-4402-A596-0876C100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7A64B-C94F-413B-AE90-C56993B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技能认定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022A7-2A58-4B6A-878B-BBA90B7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38625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资格、考评与发证由授权人员负责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F33D1-77D6-4014-BB2D-AD5B3D2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1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327EF-8AC4-4957-B0F6-9578E104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人员管理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7AB58-2AEF-495B-9C49-331270AB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43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AI 可整理事实，重大员工决定必须有人复核</a:t>
            </a:r>
          </a:p>
        </p:txBody>
      </p:sp>
    </p:spTree>
    <p:extLst>
      <p:ext uri="{BB962C8B-B14F-4D97-AF65-F5344CB8AC3E}">
        <p14:creationId xmlns:p14="http://schemas.microsoft.com/office/powerpoint/2010/main" val="4810416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A0B51-B482-4245-BFB6-581C2E0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F5864-929C-4852-B988-6E5FD97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每个岗位都要单独算调整上限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4709A-CEBA-421E-8C0B-5346128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随附工作簿已把这些字段做成可填报公式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71620-B565-4E90-9A4D-3E29C24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27020-CA58-439C-9636-EFEF31A4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C9F56-8E6E-4615-93C4-A6BF9D5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任务量 × 每件净节时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B2613-7B1A-4C41-872F-1CB7B2C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年度释放小时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E3E7D-6825-4CDB-9BEB-9F9D3660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年度释放小时 ÷ 年有效工时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B991A-E015-4785-9E1E-E75A021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可释放产能 FTE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D56A4-5A00-4810-B34B-A7B02F5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47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取较小值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D020C-52D8-48E7-9861-92641430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释放产能；现有人数扣服务底线、增长预留与转岗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F4215-51E3-4F31-90C8-A2CCA115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工资现金节约只按实际离岗岗位计算。</a:t>
            </a:r>
          </a:p>
        </p:txBody>
      </p:sp>
    </p:spTree>
    <p:extLst>
      <p:ext uri="{BB962C8B-B14F-4D97-AF65-F5344CB8AC3E}">
        <p14:creationId xmlns:p14="http://schemas.microsoft.com/office/powerpoint/2010/main" val="11471256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2EA0D-62B2-49DF-90B3-84934657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CF7CE-D948-436C-9978-CA0CA945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编制机会集中在可合并的重复任务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3B3D-5404-4785-A0FD-B76123B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先看工作与排班，再看岗位名称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58BE-E6F1-4DFA-8011-DE72EB47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7283E-3031-4A2C-A1F6-17CAC2B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D7A44-85EC-425A-980A-D191F5E3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2D5F-71E5-4E80-881B-8B7BBC4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招生记录整理、报名材料核对、重复报表与标准答复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75EBD-8438-4D2C-8ADC-74E8034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有条件整合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3AB0E-3A5D-4F27-9949-63FD9556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教务后台、课程资料整理、国际申请材料初审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D8DA3-D263-4512-BA84-AD54B65C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先转岗培训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68BC6-5FB9-4507-9F11-AFEB3DE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学工支持、企业合作、家校沟通等成长岗位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8DDF2-43DB-4D51-8D59-9890A783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严格守底线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41D15-3C36-46A8-B976-769DE4D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教师、班主任、考评授权、学生安全与必要服务岗位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B87A0-6966-4EBA-80E0-86EEA4D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以上是评估顺序，不代表集团已有这些岗位或已具备减少条件。</a:t>
            </a:r>
          </a:p>
        </p:txBody>
      </p:sp>
    </p:spTree>
    <p:extLst>
      <p:ext uri="{BB962C8B-B14F-4D97-AF65-F5344CB8AC3E}">
        <p14:creationId xmlns:p14="http://schemas.microsoft.com/office/powerpoint/2010/main" val="194825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4A80B-17E9-48BB-97E4-569105D0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A2E1C-FC1A-420C-A10C-B8A65AAE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人员方案需要两类批准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5AE3A-5F01-48B9-8ABD-F00AA09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业务底线由学校确认；劳动用工由具体雇主依法处理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8BAB-FA52-43F9-892B-0CC8C9C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8FBF8-C43E-4979-A1BE-13AB5A82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75913-5F99-4EA0-996B-6FF39E7B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办学与服务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F8E3-2C5A-4996-BBCA-858C210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619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教师资格与专任教师配置</a:t>
            </a:r>
          </a:p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课程、班级、学生管理和安全覆盖</a:t>
            </a:r>
          </a:p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技能认定的授权考评职责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28F44-76A2-497D-8A89-E6827764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劳动用工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AEAB4-7741-41D8-9ED6-E1D23BC2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按法人核对合同与岗位变化</a:t>
            </a:r>
          </a:p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评估补偿、沟通与适用程序</a:t>
            </a:r>
          </a:p>
          <a:p xmlns:a="http://schemas.openxmlformats.org/drawingml/2006/main">
            <a:pPr>
              <a:defRPr sz="19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任何实际离岗由人事和法务逐案审查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4777C-0A02-4AF3-8C10-B286BED2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集团总数 300 人不能替代各用人主体的法律事实与人员台账。</a:t>
            </a:r>
          </a:p>
        </p:txBody>
      </p:sp>
    </p:spTree>
    <p:extLst>
      <p:ext uri="{BB962C8B-B14F-4D97-AF65-F5344CB8AC3E}">
        <p14:creationId xmlns:p14="http://schemas.microsoft.com/office/powerpoint/2010/main" val="802699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45CB2-7A66-430A-8D91-A55306A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5D77-1B65-4AD5-9D05-947413A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三项试点怎样证明可减编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4339D-CD61-4510-87C1-0DF6BDCF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相同任务、相同周期比较，并计入人工复核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21B5B-8EC9-4261-9F46-98B2F813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1291F-33FB-4721-B804-07C50EF1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0E3ED-D917-41E3-989E-10B23FEA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3CBEB-3B8A-4B13-9875-5E49D183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同渠道、同周比较处理分钟、有效转化与投诉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A7D07-5855-46A7-B256-60AD7D9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教务材料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2EB98-1DBF-41F6-A37C-7B9F77E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同材料类型比较处理分钟、补正率与返工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B268D-868A-42DE-A799-56CD4B4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行政共享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2461F-1E9D-4FE6-9D5C-6A8039CB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00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同票据与报表类型比较耗时、差错与复核量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16CDD-71BC-4B93-B8CD-595BE54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每周复核错误与客户反馈；90 天不足覆盖的学习或招生结果继续观察。</a:t>
            </a:r>
          </a:p>
        </p:txBody>
      </p:sp>
    </p:spTree>
    <p:extLst>
      <p:ext uri="{BB962C8B-B14F-4D97-AF65-F5344CB8AC3E}">
        <p14:creationId xmlns:p14="http://schemas.microsoft.com/office/powerpoint/2010/main" val="7934018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7976F-DFD4-46A7-8C6D-BC3FDB14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06B19-A09C-4D03-882D-362F3FDE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采购先过必要条件，再比较价格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C73B-B390-4C73-932A-32FDC11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拒绝无法说明数据去向、权限或退出方式的方案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EC9EE-553D-45EC-856A-FDA39101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BA77A-170F-4F2A-8E5C-FFAF13F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CCBE4-E592-4E93-AD04-4E56E66A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0B9B8-6F3C-4ECD-9EB9-00A4D4C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45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数据与合规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AEDED-F0E1-4E17-9B01-60101A31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BCF4C-C2EB-4972-8DC5-FE8119A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答案质量与可追溯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B1C16-845F-4E68-993D-A29BDC8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CD147-A96C-4DD4-BA3D-E6358F9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系统集成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9529F-FAAA-42B3-B214-1DCB89B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78EC0-B146-4BB3-8453-F69BDB5E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005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费用与退出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EE90C-CDCD-4C65-8AC1-F0DDE04E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0BB4B-E9A0-4AD0-AD77-C4623C8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培训与支持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03072-0339-4C4A-9532-830B71F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至少三家可比报价；第 30、60、90 天分阶段释放预算。</a:t>
            </a:r>
          </a:p>
        </p:txBody>
      </p:sp>
    </p:spTree>
    <p:extLst>
      <p:ext uri="{BB962C8B-B14F-4D97-AF65-F5344CB8AC3E}">
        <p14:creationId xmlns:p14="http://schemas.microsoft.com/office/powerpoint/2010/main" val="1656667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27034-29E0-4F4D-8ED7-7EFDBF39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6C919-1854-4EA1-9AF3-F64C5DB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12 个月分阶段兑现编制优化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E0BA1-E0BA-4CC1-A69E-24F619C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每阶段先验证质量和排班，再核算现金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36DD-3691-40C8-973B-86A7D009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62F55-D04F-41C0-A5AC-F2B51B3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945DE-7C5F-4EC1-80F1-417DEED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1–3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3A3C6-3111-43CC-9FB8-B550447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建岗位台账，完成 60 人试点；不以估计值减编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220A5-3D6B-4A26-9A9F-EF1667A8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第 4–6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07D9-1A30-48A2-ADB1-8E0EA881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扩大已验证的行政流程；优先招聘控制与转岗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6D7E6-959E-412B-9ABB-475BA9F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第 7–9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F3047-9A53-4A0C-9088-3B2507F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按法人及岗位提出正式编制方案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981B-50C3-41D3-A4D2-C242824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10–12 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6B7C6-9273-4BF6-A997-B011203F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谨慎扩展教学和认定辅助，持续复核服务底线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261BD-15BD-4D9B-9CAC-5ABA2D7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财务每月确认实际离岗、过渡成本与净现金影响。</a:t>
            </a:r>
          </a:p>
        </p:txBody>
      </p:sp>
    </p:spTree>
    <p:extLst>
      <p:ext uri="{BB962C8B-B14F-4D97-AF65-F5344CB8AC3E}">
        <p14:creationId xmlns:p14="http://schemas.microsoft.com/office/powerpoint/2010/main" val="804362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2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D8812-9C50-4D87-BD89-982EE187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董事长现在需要批准的事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BD0C9-649C-4981-AB66-4A3ABED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C09A"/>
                </a:solidFill>
                <a:latin typeface="Microsoft YaHei"/>
                <a:ea typeface="Microsoft YaHei"/>
                <a:cs typeface="Microsoft YaHei"/>
              </a:defRPr>
            </a:pPr>
            <a:r>
              <a:t>两周基线调查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7DC98-8C45-458A-A405-75707D1D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各业务线提交前三项重复任务、月处理量、差错率和所用系统。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BD28D-889C-4278-B562-319C705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3C09A"/>
                </a:solidFill>
                <a:latin typeface="Microsoft YaHei"/>
                <a:ea typeface="Microsoft YaHei"/>
                <a:cs typeface="Microsoft YaHei"/>
              </a:defRPr>
            </a:pPr>
            <a:r>
              <a:t>授权 90 天受控试点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38A1-3F27-4902-B892-2A9C741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先投招生、教务与行政共享；第 90 天确认岗位上限与现金路径。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BA5F4-C19C-4BFF-8791-AFE9C56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0D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本方案为决策草案。集团财务、系统与人员明细尚待核实。</a:t>
            </a:r>
          </a:p>
        </p:txBody>
      </p:sp>
    </p:spTree>
    <p:extLst>
      <p:ext uri="{BB962C8B-B14F-4D97-AF65-F5344CB8AC3E}">
        <p14:creationId xmlns:p14="http://schemas.microsoft.com/office/powerpoint/2010/main" val="10917033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F0AD3-92BB-4C21-A3C1-157EA47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4D1CB-8AA0-4A99-93EB-E61A5B6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追加 20 岗：累计 43 岗压力测试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CAD1-745E-426A-8FE4-B8493A8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假设每岗年全成本 12 万、首年节约 9 个月、过渡 35 万、AI 25 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AA62F-DF1C-469A-B8B7-605DEEE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99947-58F1-4E76-A7EE-81DC8387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CC80C-2906-4620-92E3-06F97DA2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43 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41113-A52B-41CA-A1A3-3968B9F3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累计压减岗位情景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1F4B0-341C-4BF2-9730-F2BAE20B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原 23 岗门槛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再追加 20 岗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期末编制约 257 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8070B-F63C-4DE2-9188-34379A22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860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387 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31666-9C34-4303-87DE-1CB16DC7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首年人力成本减少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7A41F-268A-41CB-A017-FAEA5725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43 × 12 万 × 9/12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= 387 万元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扣除费用后净额 327 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F39BC-CB78-476D-89E4-78780EE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516 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DC9DA-AE5D-409C-B26B-C0343018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稳定年化人力减少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BA56B-075F-4403-9E5B-09AABF5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43 × 12 万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= 516 万元/完整年度</a:t>
            </a:r>
          </a:p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占约 300 人的 14.3%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EAD67-DF62-4B67-9290-941A8600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43 岗是董事长压力测试。第 90 天前须逐岗证明任务取消、流程合并、服务覆盖和合法用工路径。</a:t>
            </a:r>
          </a:p>
        </p:txBody>
      </p:sp>
    </p:spTree>
    <p:extLst>
      <p:ext uri="{BB962C8B-B14F-4D97-AF65-F5344CB8AC3E}">
        <p14:creationId xmlns:p14="http://schemas.microsoft.com/office/powerpoint/2010/main" val="13946581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57477-08FF-4D76-BE3B-9C9A07B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FB7D7-8667-4557-80CB-C54225F0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43 岗意味着 77,400 小时容量门槛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F0780-F8BE-4E06-A577-A4BE653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此前统一节省 1.5 小时/周的演示远不够支撑追加目标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DE7F-501D-465E-B76B-46C3AE7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0795-5EA8-4A31-B0E8-4787039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025FB-E6F9-482E-8A50-662386A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77,400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572F7-ED42-4923-B6BC-AA6712DA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43 岗 × 1,800 小时/岗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F7733-EADD-4068-980B-AD6D9A9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20,700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C410C-2990-44F5-9F89-356A991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300 人 × 1.5 小时/周 × 46 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9CCD6-03CA-494A-95C5-F29E87C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差额 56,700 小时；平均到 300 人需约 5.61 小时/周，且必须能在同岗位、同排班中合并。</a:t>
            </a:r>
          </a:p>
        </p:txBody>
      </p:sp>
    </p:spTree>
    <p:extLst>
      <p:ext uri="{BB962C8B-B14F-4D97-AF65-F5344CB8AC3E}">
        <p14:creationId xmlns:p14="http://schemas.microsoft.com/office/powerpoint/2010/main" val="7568477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05A6C-ABE7-4F17-92D9-82AECB1A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B2489-A5D4-44D2-A820-B0A9A5F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优先挖掘四个非教学岗位池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90E87-BF39-4263-BDEA-4CE9721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把 AI 投在高频、可核对、能够整合排班的流程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D4D8-B306-4053-A4D9-167DC7DC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042FC-3172-462A-B3B5-AF23F1B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EAC09-630A-4B54-973A-D906B91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招生与市场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60847-9611-472A-8254-E15F88F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知识库答复、摘要和跟进；跨校区共享排班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B4888-DB11-4907-94DF-5A57284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报名与教务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FEF53-CCC9-40E1-B235-84501EC9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材料识别、缺项工单和集中复核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12452-5742-4AF8-A4A6-E5A0A5BF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财务与人事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1B8FA-D3C2-4000-90AE-A22CAC03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票据预分类、制度问答与报表草稿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946A5-916E-4D46-8943-0106E7D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认定与国际材料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E0670-1E06-48A8-8F8E-ACE99EC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43450"/>
            <a:ext cx="728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翻译、核验和异常分流，保留授权决定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59E0B-67E1-4D97-B4C8-272B38E1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外包与临时用工单独核算已批准预算的实际减少，避免与员工岗位节约重复。</a:t>
            </a:r>
          </a:p>
        </p:txBody>
      </p:sp>
    </p:spTree>
    <p:extLst>
      <p:ext uri="{BB962C8B-B14F-4D97-AF65-F5344CB8AC3E}">
        <p14:creationId xmlns:p14="http://schemas.microsoft.com/office/powerpoint/2010/main" val="16423086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BE62C-0963-42CB-BE3F-7C663033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A45F3-37D4-4CD2-842A-9DC44FA8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全球证据提示：工具节时不自动减员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BA3E-FFC5-4CBA-BBC5-86CE500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真正兑现 200 万，需要流程、排班和岗位一起改变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6D366-50FC-4BC0-95B5-4845B5D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87EDF-6128-4BCF-BA44-05944C1F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7FD06-B592-49F5-86DA-3FD915C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14%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6A7AA-05D4-4047-A8E7-7DF0536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828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NBER 客服岗位处理效率提升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79493-D0B1-4FB8-BD88-387A29D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 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8B38D-F7C4-4EF7-B0F4-705786A3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67075"/>
            <a:ext cx="828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跨 66 家企业试验中，使用者每周邮件时间下降；任务结构未自动变化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AA798-CA6C-4E33-8273-F462308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未检出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79EFC-E4A2-4EE0-BBE3-91517E8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76725"/>
            <a:ext cx="828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秘鲁 1,269 名教师随机试验未测得核心教学任务节时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0FF55-955B-421A-B0BE-1812422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15 天核底数；第 90 天核岗位上限；第 12 个月核年化工资现金节约。</a:t>
            </a:r>
          </a:p>
        </p:txBody>
      </p:sp>
    </p:spTree>
    <p:extLst>
      <p:ext uri="{BB962C8B-B14F-4D97-AF65-F5344CB8AC3E}">
        <p14:creationId xmlns:p14="http://schemas.microsoft.com/office/powerpoint/2010/main" val="11069386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2277F-BD03-403D-A324-922CFB37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10B6B-C91B-4BEC-910F-74F7769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232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研究与政策来源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AA09B-1B8D-4C51-B913-EA9B854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所有外部事实均可回溯到原始材料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7F978-6D55-4A6C-8268-D21C3EBE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广东江南理工教育集团  ·  AI 人力降本 200 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863EE-122C-4FBF-BC92-6FB485C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870"/>
                </a:solidFill>
                <a:latin typeface="Microsoft YaHei"/>
                <a:ea typeface="Microsoft YaHei"/>
                <a:cs typeface="Microsoft YaHei"/>
              </a:defRPr>
            </a:pPr>
            <a: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84822-1FE1-4689-B066-1433742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NBER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56B79-842A-4A22-91F4-DA9A180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57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生成式 AI 在客服岗位的实证研究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B467-F51A-4CD3-B4DD-01AC99A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世界银行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427C-22FD-43BA-B824-BA5DBA4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288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尼日利亚高中 AI 辅导随机试验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266D-77B3-4921-A654-4C5FD8F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NBER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A417E-F948-412C-8F34-84F5629A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00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跨企业 AI 工作模式随机试验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84EEB-1D92-46BA-B5F8-5E6B34E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世界银行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F0603-FB09-45E9-981C-0A8D6FC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718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秘鲁教师 AI 随机试验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1C2F6-E6CA-4896-8A9F-D4D83A5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UNESCO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D1098-78E7-4683-A56B-2A0AB08C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43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生成式 AI 教育与研究指南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656F7-E8DB-4B1D-902B-5BCF12D6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OECD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C35D9-7E58-40B8-8C3C-B4F63279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147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TALIS 2024 教师调查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69B01-437D-47B8-85EA-B9BC7FD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中国网信网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624E3-CC3C-4592-AD0D-1801338B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86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中华人民共和国个人信息保护法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A6C5F-F5E2-476C-843E-7AE2B9C8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教育部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86B8A-2FDF-49F5-BA80-F4FD3AF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6577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智慧教育平台个人信息保护标准通知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82E3C-EFC7-4350-B1E0-A0876C0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人社部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6D042-ACA9-4E01-93EE-31083294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29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中华人民共和国劳动合同法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D3B72-021E-4CCE-95C0-2485074C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教育部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D9628-988E-41A0-89D7-ACB8328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4006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民办教育促进法实施条例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16CD6-DF9A-46A0-A3F6-9A3FAE30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8653"/>
                </a:solidFill>
                <a:latin typeface="Microsoft YaHei"/>
                <a:ea typeface="Microsoft YaHei"/>
                <a:cs typeface="Microsoft YaHei"/>
              </a:defRPr>
            </a:pPr>
            <a:r>
              <a:t>人社部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3EB2F-E790-4508-9E55-B429B64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772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t>技工院校设置标准</a:t>
            </a:r>
          </a:p>
        </p:txBody>
      </p:sp>
    </p:spTree>
    <p:extLst>
      <p:ext uri="{BB962C8B-B14F-4D97-AF65-F5344CB8AC3E}">
        <p14:creationId xmlns:p14="http://schemas.microsoft.com/office/powerpoint/2010/main" val="774265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2026-09-19T05:39:44.2300000Z</dcterms:created>
  <dcterms:modified xsi:type="dcterms:W3CDTF">2026-09-19T05:39:44.2310000Z</dcterms:modified>
</coreProperties>
</file>