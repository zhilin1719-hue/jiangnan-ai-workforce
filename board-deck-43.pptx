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11200" y="1524000"/>
            <a:ext cx="558800" cy="381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11200" y="1066800"/>
            <a:ext cx="8890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GUANGDONG JIANGNAN INSTITUTE OF TECHNOLOGY EDUCATION GROUP</a:t>
            </a:r>
            <a:endParaRPr lang="en-US" altLang="en-US" sz="100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1778000"/>
            <a:ext cx="109220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40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40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编制优化</a:t>
            </a:r>
            <a:r>
              <a:rPr lang="en-US" altLang="zh-CN" sz="40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43 </a:t>
            </a:r>
            <a:r>
              <a:rPr lang="zh-CN" altLang="en-US" sz="40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岗情景</a:t>
            </a:r>
            <a:endParaRPr lang="zh-CN" altLang="en-US" sz="40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1200" y="2616200"/>
            <a:ext cx="10160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面向约</a:t>
            </a:r>
            <a:r>
              <a:rPr lang="en-US" altLang="zh-CN" sz="13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300 </a:t>
            </a:r>
            <a:r>
              <a:rPr lang="zh-CN" altLang="en-US" sz="13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人教育集团的编制与现金压力测试</a:t>
            </a:r>
            <a:r>
              <a:rPr lang="en-US" altLang="zh-CN" sz="13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战略讨论稿</a:t>
            </a:r>
            <a:endParaRPr lang="zh-CN" altLang="en-US" sz="13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11200" y="3556000"/>
            <a:ext cx="2540000" cy="1651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14400" y="3759200"/>
            <a:ext cx="21336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43</a:t>
            </a:r>
            <a:endParaRPr lang="en-US" altLang="en-US" sz="34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14400" y="4368800"/>
            <a:ext cx="21336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个编制岗位情景</a:t>
            </a:r>
            <a:endParaRPr lang="zh-CN" altLang="en-US" sz="11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4400" y="4800600"/>
            <a:ext cx="21336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压减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3454400" y="3556000"/>
            <a:ext cx="2540000" cy="1651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657600" y="3759200"/>
            <a:ext cx="21336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387</a:t>
            </a:r>
            <a:endParaRPr lang="en-US" altLang="en-US" sz="34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657600" y="4368800"/>
            <a:ext cx="21336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万元</a:t>
            </a:r>
            <a:r>
              <a:rPr lang="en-US" altLang="zh-CN" sz="11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1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首年毛节约</a:t>
            </a:r>
            <a:endParaRPr lang="zh-CN" altLang="en-US" sz="11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657600" y="4800600"/>
            <a:ext cx="21336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9/12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生效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197600" y="3556000"/>
            <a:ext cx="2540000" cy="1651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400800" y="3759200"/>
            <a:ext cx="21336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254</a:t>
            </a:r>
            <a:endParaRPr lang="en-US" altLang="en-US" sz="34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400800" y="4368800"/>
            <a:ext cx="21336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万元</a:t>
            </a:r>
            <a:r>
              <a:rPr lang="en-US" altLang="zh-CN" sz="11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1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首年净节约</a:t>
            </a:r>
            <a:endParaRPr lang="zh-CN" altLang="en-US" sz="11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00800" y="4800600"/>
            <a:ext cx="21336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补偿前口径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940800" y="3556000"/>
            <a:ext cx="2540000" cy="1651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144000" y="3759200"/>
            <a:ext cx="21336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516</a:t>
            </a:r>
            <a:endParaRPr lang="en-US" altLang="en-US" sz="34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144000" y="4368800"/>
            <a:ext cx="21336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万元</a:t>
            </a:r>
            <a:r>
              <a:rPr lang="en-US" altLang="zh-CN" sz="11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1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稳态年化节约</a:t>
            </a:r>
            <a:endParaRPr lang="zh-CN" altLang="en-US" sz="11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144000" y="4800600"/>
            <a:ext cx="21336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岗全生效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11200" y="5867400"/>
            <a:ext cx="107696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</a:t>
            </a:r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 </a:t>
            </a:r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内部讨论材料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非集团官方公告，情景数字为压力测试，并非已核准的岗位或人员决定</a:t>
            </a:r>
            <a:endParaRPr lang="zh-CN" altLang="en-US" sz="9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1200" y="457200"/>
            <a:ext cx="7620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01 / EXECUTIVE SUMMARY</a:t>
            </a:r>
            <a:endParaRPr lang="en-US" altLang="en-US" sz="105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" y="711200"/>
            <a:ext cx="1076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董事长一页结论</a:t>
            </a:r>
            <a:endParaRPr lang="zh-CN" altLang="en-US" sz="26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1200" y="1270000"/>
            <a:ext cx="558800" cy="3175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1200" y="1422400"/>
            <a:ext cx="10769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做什么、多久、多少钱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全部可写入合同附件。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1200" y="6527800"/>
            <a:ext cx="53340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江南理工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AI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编制优化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43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岗情景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69600" y="6527800"/>
            <a:ext cx="711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2 / 14</a:t>
            </a:r>
            <a:endParaRPr lang="en-US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11200" y="1879600"/>
            <a:ext cx="3454400" cy="3175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39800" y="2133600"/>
            <a:ext cx="29972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/ </a:t>
            </a:r>
            <a:r>
              <a:rPr lang="zh-CN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做什么</a:t>
            </a:r>
            <a:endParaRPr lang="zh-CN" altLang="en-US" sz="105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39800" y="2463800"/>
            <a:ext cx="2997200" cy="5073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在原</a:t>
            </a:r>
            <a:r>
              <a:rPr lang="en-US" altLang="zh-CN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23 </a:t>
            </a:r>
            <a:r>
              <a:rPr lang="zh-CN" altLang="en-US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岗门槛上追加</a:t>
            </a:r>
            <a:r>
              <a:rPr lang="en-US" altLang="zh-CN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 </a:t>
            </a:r>
            <a:r>
              <a:rPr lang="zh-CN" altLang="en-US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岗，合计压减</a:t>
            </a:r>
            <a:r>
              <a:rPr lang="en-US" altLang="zh-CN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43 </a:t>
            </a:r>
            <a:r>
              <a:rPr lang="zh-CN" altLang="en-US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个编制，覆盖招生、教务、行政、人资、财务五大业务域；期末编制约</a:t>
            </a:r>
            <a:r>
              <a:rPr lang="en-US" altLang="zh-CN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257 </a:t>
            </a:r>
            <a:r>
              <a:rPr lang="zh-CN" altLang="en-US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人。</a:t>
            </a:r>
            <a:endParaRPr lang="zh-CN" altLang="en-US" sz="110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39800" y="4343400"/>
            <a:ext cx="2997200" cy="12700"/>
          </a:xfrm>
          <a:prstGeom prst="rect">
            <a:avLst/>
          </a:prstGeom>
          <a:solidFill>
            <a:srgbClr val="26394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39800" y="4470400"/>
            <a:ext cx="2997200" cy="191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2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 </a:t>
            </a:r>
            <a:r>
              <a:rPr lang="zh-CN" altLang="en-US" sz="12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</a:t>
            </a:r>
            <a:r>
              <a:rPr lang="en-US" altLang="zh-CN" sz="12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五大业务域</a:t>
            </a:r>
            <a:endParaRPr lang="zh-CN" altLang="en-US" sz="1250" b="1">
              <a:solidFill>
                <a:srgbClr val="5EC6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368800" y="1879600"/>
            <a:ext cx="3454400" cy="3175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597400" y="2133600"/>
            <a:ext cx="29972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/ </a:t>
            </a:r>
            <a:r>
              <a:rPr lang="zh-CN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多久</a:t>
            </a:r>
            <a:endParaRPr lang="zh-CN" altLang="en-US" sz="105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597400" y="2463800"/>
            <a:ext cx="2997200" cy="5073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</a:t>
            </a:r>
            <a:r>
              <a:rPr lang="zh-CN" altLang="en-US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个工作日完成真实基线诊断；</a:t>
            </a:r>
            <a:r>
              <a:rPr lang="en-US" altLang="zh-CN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 </a:t>
            </a:r>
            <a:r>
              <a:rPr lang="zh-CN" altLang="en-US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天跑通</a:t>
            </a:r>
            <a:r>
              <a:rPr lang="en-US" altLang="zh-CN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</a:t>
            </a:r>
            <a:r>
              <a:rPr lang="en-US" altLang="zh-CN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工作流并验证产能；</a:t>
            </a:r>
            <a:r>
              <a:rPr lang="en-US" altLang="zh-CN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</a:t>
            </a:r>
            <a:r>
              <a:rPr lang="zh-CN" altLang="en-US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个月完成定编方案；</a:t>
            </a:r>
            <a:r>
              <a:rPr lang="en-US" altLang="zh-CN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</a:t>
            </a:r>
            <a:r>
              <a:rPr lang="zh-CN" altLang="en-US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个月完成现金验收。</a:t>
            </a:r>
            <a:endParaRPr lang="zh-CN" altLang="en-US" sz="110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597400" y="4343400"/>
            <a:ext cx="2997200" cy="12700"/>
          </a:xfrm>
          <a:prstGeom prst="rect">
            <a:avLst/>
          </a:prstGeom>
          <a:solidFill>
            <a:srgbClr val="26394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597400" y="4470400"/>
            <a:ext cx="2997200" cy="191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2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 </a:t>
            </a:r>
            <a:r>
              <a:rPr lang="zh-CN" altLang="en-US" sz="12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天证明价值</a:t>
            </a:r>
            <a:r>
              <a:rPr lang="en-US" altLang="zh-CN" sz="12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12 </a:t>
            </a:r>
            <a:r>
              <a:rPr lang="zh-CN" altLang="en-US" sz="12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个月兑现</a:t>
            </a:r>
            <a:endParaRPr lang="zh-CN" altLang="en-US" sz="1250" b="1">
              <a:solidFill>
                <a:srgbClr val="5EC6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8026400" y="1879600"/>
            <a:ext cx="3454400" cy="3175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8255000" y="2133600"/>
            <a:ext cx="29972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/ </a:t>
            </a:r>
            <a:r>
              <a:rPr lang="zh-CN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多少钱</a:t>
            </a:r>
            <a:endParaRPr lang="zh-CN" altLang="en-US" sz="105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255000" y="2463800"/>
            <a:ext cx="2997200" cy="5073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专业服务费</a:t>
            </a:r>
            <a:r>
              <a:rPr lang="en-US" altLang="zh-CN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68 </a:t>
            </a:r>
            <a:r>
              <a:rPr lang="zh-CN" altLang="en-US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万分四段支付；推荐项目预算上限</a:t>
            </a:r>
            <a:r>
              <a:rPr lang="en-US" altLang="zh-CN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98 </a:t>
            </a:r>
            <a:r>
              <a:rPr lang="zh-CN" altLang="en-US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万（含软件许可</a:t>
            </a:r>
            <a:r>
              <a:rPr lang="en-US" altLang="zh-CN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 </a:t>
            </a:r>
            <a:r>
              <a:rPr lang="zh-CN" altLang="en-US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万、集成预备金</a:t>
            </a:r>
            <a:r>
              <a:rPr lang="en-US" altLang="zh-CN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 sz="11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万）；补偿另行单独列示。</a:t>
            </a:r>
            <a:endParaRPr lang="zh-CN" altLang="en-US" sz="110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8255000" y="4343400"/>
            <a:ext cx="2997200" cy="12700"/>
          </a:xfrm>
          <a:prstGeom prst="rect">
            <a:avLst/>
          </a:prstGeom>
          <a:solidFill>
            <a:srgbClr val="26394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8255000" y="4470400"/>
            <a:ext cx="2997200" cy="191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2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 </a:t>
            </a:r>
            <a:r>
              <a:rPr lang="zh-CN" altLang="en-US" sz="12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万服务费</a:t>
            </a:r>
            <a:r>
              <a:rPr lang="en-US" altLang="zh-CN" sz="12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98 </a:t>
            </a:r>
            <a:r>
              <a:rPr lang="zh-CN" altLang="en-US" sz="12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万预算上限</a:t>
            </a:r>
            <a:endParaRPr lang="zh-CN" altLang="en-US" sz="1250" b="1">
              <a:solidFill>
                <a:srgbClr val="5EC6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11200" y="5562600"/>
            <a:ext cx="107696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首年净节约</a:t>
            </a:r>
            <a:r>
              <a:rPr lang="en-US" altLang="zh-CN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254 </a:t>
            </a:r>
            <a:r>
              <a:rPr lang="zh-CN" altLang="en-US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r>
              <a:rPr lang="en-US" altLang="zh-CN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毛节约</a:t>
            </a:r>
            <a:r>
              <a:rPr lang="en-US" altLang="zh-CN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387 </a:t>
            </a:r>
            <a:r>
              <a:rPr lang="zh-CN" altLang="en-US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r>
              <a:rPr lang="en-US" altLang="zh-CN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 </a:t>
            </a:r>
            <a:r>
              <a:rPr lang="zh-CN" altLang="en-US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项目预算</a:t>
            </a:r>
            <a:r>
              <a:rPr lang="en-US" altLang="zh-CN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98 </a:t>
            </a:r>
            <a:r>
              <a:rPr lang="zh-CN" altLang="en-US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r>
              <a:rPr lang="en-US" altLang="zh-CN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 </a:t>
            </a:r>
            <a:r>
              <a:rPr lang="zh-CN" altLang="en-US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转型支出</a:t>
            </a:r>
            <a:r>
              <a:rPr lang="en-US" altLang="zh-CN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35 </a:t>
            </a:r>
            <a:r>
              <a:rPr lang="zh-CN" altLang="en-US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万（补偿前口径）</a:t>
            </a:r>
            <a:r>
              <a:rPr lang="en-US" altLang="zh-CN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超过</a:t>
            </a:r>
            <a:r>
              <a:rPr lang="en-US" altLang="zh-CN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200 </a:t>
            </a:r>
            <a:r>
              <a:rPr lang="zh-CN" altLang="en-US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万验收底线</a:t>
            </a:r>
            <a:endParaRPr lang="zh-CN" altLang="en-US" sz="11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1200" y="457200"/>
            <a:ext cx="7620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02 / SCENARIO</a:t>
            </a:r>
            <a:endParaRPr lang="en-US" altLang="en-US" sz="105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" y="711200"/>
            <a:ext cx="1076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</a:t>
            </a:r>
            <a:r>
              <a:rPr lang="en-US" altLang="zh-CN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300 </a:t>
            </a:r>
            <a:r>
              <a:rPr lang="zh-CN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</a:t>
            </a:r>
            <a:r>
              <a:rPr lang="en-US" altLang="zh-CN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257</a:t>
            </a:r>
            <a:r>
              <a:rPr lang="zh-CN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 </a:t>
            </a:r>
            <a:r>
              <a:rPr lang="zh-CN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岗从哪里来</a:t>
            </a:r>
            <a:endParaRPr lang="zh-CN" altLang="en-US" sz="26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1200" y="1270000"/>
            <a:ext cx="558800" cy="3175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1200" y="1422400"/>
            <a:ext cx="10769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情景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23 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岗门槛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追加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 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岗；数字为压力测试，非既定决定。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1200" y="6527800"/>
            <a:ext cx="53340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江南理工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AI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编制优化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43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岗情景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69600" y="6527800"/>
            <a:ext cx="711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3 / 14</a:t>
            </a:r>
            <a:endParaRPr lang="en-US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11200" y="1879600"/>
            <a:ext cx="4826000" cy="3048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39800" y="2133600"/>
            <a:ext cx="1270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当前编制</a:t>
            </a:r>
            <a:endParaRPr lang="zh-CN" altLang="en-US" sz="105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39800" y="2413000"/>
            <a:ext cx="2032000" cy="676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44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≈ 300</a:t>
            </a:r>
            <a:endParaRPr lang="en-US" altLang="en-US" sz="44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39800" y="3175000"/>
            <a:ext cx="2032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集团口径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67000" y="2413000"/>
            <a:ext cx="15240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40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− 43</a:t>
            </a:r>
            <a:endParaRPr lang="en-US" altLang="en-US" sz="40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667000" y="3175000"/>
            <a:ext cx="1524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压减岗位情景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39800" y="3759200"/>
            <a:ext cx="4368800" cy="12700"/>
          </a:xfrm>
          <a:prstGeom prst="rect">
            <a:avLst/>
          </a:prstGeom>
          <a:solidFill>
            <a:srgbClr val="26394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39800" y="4013200"/>
            <a:ext cx="33020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40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期末编制</a:t>
            </a:r>
            <a:r>
              <a:rPr lang="en-US" altLang="zh-CN" sz="240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≈ 257 </a:t>
            </a:r>
            <a:r>
              <a:rPr lang="zh-CN" altLang="en-US" sz="240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lang="zh-CN" altLang="en-US" sz="2400" b="1">
              <a:solidFill>
                <a:srgbClr val="5EC6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39800" y="4470400"/>
            <a:ext cx="3810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通过自然流失、冻结招聘与转岗分批实现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994400" y="1879600"/>
            <a:ext cx="3810000" cy="191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覆盖五大业务域</a:t>
            </a:r>
            <a:endParaRPr lang="zh-CN" altLang="en-US" sz="12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994400" y="2260600"/>
            <a:ext cx="5486400" cy="6604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5994400" y="2260600"/>
            <a:ext cx="38100" cy="6604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248400" y="2362200"/>
            <a:ext cx="15240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招生市场</a:t>
            </a:r>
            <a:endParaRPr lang="zh-CN" altLang="en-US" sz="12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772400" y="2374900"/>
            <a:ext cx="3556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线索响应、内容与投放协同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994400" y="3048000"/>
            <a:ext cx="5486400" cy="6604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994400" y="3048000"/>
            <a:ext cx="38100" cy="6604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248400" y="3149600"/>
            <a:ext cx="15240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教务排课</a:t>
            </a:r>
            <a:endParaRPr lang="zh-CN" altLang="en-US" sz="12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772400" y="3162300"/>
            <a:ext cx="3556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排课与调度、课务协同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5994400" y="3835400"/>
            <a:ext cx="5486400" cy="6604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5994400" y="3835400"/>
            <a:ext cx="38100" cy="6604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248400" y="3937000"/>
            <a:ext cx="15240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行政事务</a:t>
            </a:r>
            <a:endParaRPr lang="zh-CN" altLang="en-US" sz="12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772400" y="3949700"/>
            <a:ext cx="3556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公文、资产、宿舍后勤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5994400" y="4622800"/>
            <a:ext cx="5486400" cy="6604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5994400" y="4622800"/>
            <a:ext cx="38100" cy="6604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248400" y="4724400"/>
            <a:ext cx="15240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人事薪酬</a:t>
            </a:r>
            <a:endParaRPr lang="zh-CN" altLang="en-US" sz="12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772400" y="4737100"/>
            <a:ext cx="3556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入转调离、薪酬核算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5994400" y="5410200"/>
            <a:ext cx="5486400" cy="6604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5994400" y="5410200"/>
            <a:ext cx="38100" cy="6604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6248400" y="5511800"/>
            <a:ext cx="15240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财务对账</a:t>
            </a:r>
            <a:endParaRPr lang="zh-CN" altLang="en-US" sz="12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772400" y="5524500"/>
            <a:ext cx="3556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应收应付、报销与核销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994400" y="6299200"/>
            <a:ext cx="54864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 = 23</a:t>
            </a:r>
            <a:r>
              <a:rPr lang="zh-CN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（原门槛情景）</a:t>
            </a:r>
            <a:r>
              <a:rPr lang="en-US" altLang="zh-CN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+ 20</a:t>
            </a:r>
            <a:r>
              <a:rPr lang="zh-CN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（本方案追加）</a:t>
            </a:r>
            <a:endParaRPr lang="zh-CN" altLang="en-US" sz="105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1200" y="457200"/>
            <a:ext cx="7620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03 / FINANCIAL LOGIC</a:t>
            </a:r>
            <a:endParaRPr lang="en-US" altLang="en-US" sz="105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" y="711200"/>
            <a:ext cx="1076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387 </a:t>
            </a:r>
            <a:r>
              <a:rPr lang="zh-CN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万毛节约怎么算出来</a:t>
            </a:r>
            <a:endParaRPr lang="zh-CN" altLang="en-US" sz="26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1200" y="1270000"/>
            <a:ext cx="558800" cy="3175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1200" y="1422400"/>
            <a:ext cx="10769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测算参数与网站交互测算一致，可按集团口径调整。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1200" y="6527800"/>
            <a:ext cx="53340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江南理工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AI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编制优化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43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岗情景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69600" y="6527800"/>
            <a:ext cx="711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4 / 14</a:t>
            </a:r>
            <a:endParaRPr lang="en-US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11200" y="1905000"/>
            <a:ext cx="2844800" cy="10668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89000" y="2057400"/>
            <a:ext cx="24892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岗位情景</a:t>
            </a:r>
            <a:endParaRPr lang="zh-CN" altLang="en-US" sz="95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89000" y="2286000"/>
            <a:ext cx="24892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0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 </a:t>
            </a:r>
            <a:r>
              <a:rPr lang="zh-CN" altLang="en-US" sz="20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</a:t>
            </a:r>
            <a:endParaRPr lang="zh-CN" altLang="en-US" sz="20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9000" y="2667000"/>
            <a:ext cx="2489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教学支持、行政与市场招生等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759200" y="1905000"/>
            <a:ext cx="2844800" cy="10668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937000" y="2057400"/>
            <a:ext cx="24892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单岗年全成本</a:t>
            </a:r>
            <a:endParaRPr lang="zh-CN" altLang="en-US" sz="95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937000" y="2286000"/>
            <a:ext cx="24892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0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12.0 </a:t>
            </a:r>
            <a:r>
              <a:rPr lang="zh-CN" altLang="en-US" sz="20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20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937000" y="2667000"/>
            <a:ext cx="2489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薪酬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分摊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福利口径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6807200" y="1905000"/>
            <a:ext cx="2844800" cy="10668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985000" y="2057400"/>
            <a:ext cx="24892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首年平均生效</a:t>
            </a:r>
            <a:endParaRPr lang="zh-CN" altLang="en-US" sz="95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985000" y="2286000"/>
            <a:ext cx="24892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0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/ 12 </a:t>
            </a:r>
            <a:r>
              <a:rPr lang="zh-CN" altLang="en-US" sz="20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个月</a:t>
            </a:r>
            <a:endParaRPr lang="zh-CN" altLang="en-US" sz="20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985000" y="2667000"/>
            <a:ext cx="2489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分批生效，非一次性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11200" y="3175000"/>
            <a:ext cx="2844800" cy="1066800"/>
          </a:xfrm>
          <a:prstGeom prst="roundRect">
            <a:avLst/>
          </a:prstGeom>
          <a:solidFill>
            <a:srgbClr val="101E30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889000" y="3327400"/>
            <a:ext cx="24892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en-US" altLang="zh-CN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首年毛节约</a:t>
            </a:r>
            <a:endParaRPr lang="zh-CN" altLang="en-US" sz="95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89000" y="3556000"/>
            <a:ext cx="24892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0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387 </a:t>
            </a:r>
            <a:r>
              <a:rPr lang="zh-CN" altLang="en-US" sz="20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20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89000" y="3937000"/>
            <a:ext cx="2489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12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9/12</a:t>
            </a:r>
            <a:endParaRPr lang="en-US" altLang="zh-CN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759200" y="3175000"/>
            <a:ext cx="2844800" cy="10668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3937000" y="3327400"/>
            <a:ext cx="24892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en-US" altLang="zh-CN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项目预算</a:t>
            </a:r>
            <a:endParaRPr lang="zh-CN" altLang="en-US" sz="95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937000" y="3556000"/>
            <a:ext cx="24892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0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− 98 </a:t>
            </a:r>
            <a:r>
              <a:rPr lang="zh-CN" altLang="en-US" sz="20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20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937000" y="3937000"/>
            <a:ext cx="2489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68 +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 +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</a:t>
            </a:r>
            <a:endParaRPr lang="en-US" altLang="zh-CN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6807200" y="3175000"/>
            <a:ext cx="2844800" cy="10668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985000" y="3327400"/>
            <a:ext cx="24892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</a:t>
            </a:r>
            <a:r>
              <a:rPr lang="en-US" altLang="zh-CN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转型支出预留</a:t>
            </a:r>
            <a:endParaRPr lang="zh-CN" altLang="en-US" sz="95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985000" y="3556000"/>
            <a:ext cx="24892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0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− 35 </a:t>
            </a:r>
            <a:r>
              <a:rPr lang="zh-CN" altLang="en-US" sz="20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20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985000" y="3937000"/>
            <a:ext cx="2489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培训、数据清理等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711200" y="4445000"/>
            <a:ext cx="2844800" cy="1066800"/>
          </a:xfrm>
          <a:prstGeom prst="roundRect">
            <a:avLst/>
          </a:prstGeom>
          <a:solidFill>
            <a:srgbClr val="101E30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889000" y="4597400"/>
            <a:ext cx="24892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⑦</a:t>
            </a:r>
            <a:r>
              <a:rPr lang="en-US" altLang="zh-CN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5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首年净节约</a:t>
            </a:r>
            <a:endParaRPr lang="zh-CN" altLang="en-US" sz="95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9000" y="4826000"/>
            <a:ext cx="24892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0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254 </a:t>
            </a:r>
            <a:r>
              <a:rPr lang="zh-CN" altLang="en-US" sz="20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20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889000" y="5207000"/>
            <a:ext cx="2489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补偿前口径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≥200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万达标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11200" y="5740400"/>
            <a:ext cx="107696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稳态年度节约</a:t>
            </a:r>
            <a:r>
              <a:rPr lang="en-US" altLang="zh-CN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516 </a:t>
            </a:r>
            <a:r>
              <a:rPr lang="zh-CN" altLang="en-US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万（</a:t>
            </a:r>
            <a:r>
              <a:rPr lang="en-US" altLang="zh-CN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 </a:t>
            </a:r>
            <a:r>
              <a:rPr lang="zh-CN" altLang="en-US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岗全生效）</a:t>
            </a:r>
            <a:r>
              <a:rPr lang="en-US" altLang="zh-CN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</a:t>
            </a:r>
            <a:r>
              <a:rPr lang="zh-CN" altLang="en-US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岗位生效后简单回收期约</a:t>
            </a:r>
            <a:r>
              <a:rPr lang="en-US" altLang="zh-CN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3.1 </a:t>
            </a:r>
            <a:r>
              <a:rPr lang="zh-CN" altLang="en-US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个月</a:t>
            </a:r>
            <a:r>
              <a:rPr lang="en-US" altLang="zh-CN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员工经济补偿单独列示，不隐藏在项目费用中</a:t>
            </a:r>
            <a:endParaRPr lang="zh-CN" altLang="en-US" sz="11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1200" y="457200"/>
            <a:ext cx="7620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04 / AI WORKFLOWS</a:t>
            </a:r>
            <a:endParaRPr lang="en-US" altLang="en-US" sz="105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" y="711200"/>
            <a:ext cx="1076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 </a:t>
            </a:r>
            <a:r>
              <a:rPr lang="zh-CN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天上线五类</a:t>
            </a:r>
            <a:r>
              <a:rPr lang="en-US" altLang="zh-CN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 </a:t>
            </a:r>
            <a:r>
              <a:rPr lang="zh-CN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</a:t>
            </a:r>
            <a:endParaRPr lang="zh-CN" altLang="en-US" sz="26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1200" y="1270000"/>
            <a:ext cx="558800" cy="3175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1200" y="1422400"/>
            <a:ext cx="10769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WP06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：五大业务域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 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条核心自动化，成功率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≥ 95%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，严重错误为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1200" y="6527800"/>
            <a:ext cx="53340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江南理工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AI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编制优化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43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岗情景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69600" y="6527800"/>
            <a:ext cx="711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5 / 14</a:t>
            </a:r>
            <a:endParaRPr lang="en-US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11200" y="1905000"/>
            <a:ext cx="2133600" cy="3175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14400" y="2159000"/>
            <a:ext cx="17272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招生市场</a:t>
            </a:r>
            <a:endParaRPr lang="zh-CN" altLang="en-US" sz="14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14400" y="2540000"/>
            <a:ext cx="17272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线索自动分派与响应</a:t>
            </a:r>
            <a:endParaRPr lang="zh-CN" altLang="en-US" sz="11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4400" y="3200400"/>
            <a:ext cx="1727200" cy="12700"/>
          </a:xfrm>
          <a:prstGeom prst="rect">
            <a:avLst/>
          </a:prstGeom>
          <a:solidFill>
            <a:srgbClr val="26394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14400" y="3352800"/>
            <a:ext cx="17272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材料与话术知识库、跟进提醒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3048000" y="1905000"/>
            <a:ext cx="2133600" cy="3175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251200" y="2159000"/>
            <a:ext cx="17272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教务排课</a:t>
            </a:r>
            <a:endParaRPr lang="zh-CN" altLang="en-US" sz="14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51200" y="2540000"/>
            <a:ext cx="17272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排课与调度自动化</a:t>
            </a:r>
            <a:endParaRPr lang="zh-CN" altLang="en-US" sz="11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251200" y="3200400"/>
            <a:ext cx="1727200" cy="12700"/>
          </a:xfrm>
          <a:prstGeom prst="rect">
            <a:avLst/>
          </a:prstGeom>
          <a:solidFill>
            <a:srgbClr val="26394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251200" y="3352800"/>
            <a:ext cx="17272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约束校验</a:t>
            </a:r>
            <a:r>
              <a:rPr lang="en-US" altLang="zh-CN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冲突检测</a:t>
            </a:r>
            <a:r>
              <a:rPr lang="en-US" altLang="zh-CN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课表发布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384800" y="1905000"/>
            <a:ext cx="2133600" cy="3175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5588000" y="2159000"/>
            <a:ext cx="17272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行政事务</a:t>
            </a:r>
            <a:endParaRPr lang="zh-CN" altLang="en-US" sz="14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588000" y="2540000"/>
            <a:ext cx="17272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公文与流程自动化</a:t>
            </a:r>
            <a:endParaRPr lang="zh-CN" altLang="en-US" sz="11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588000" y="3200400"/>
            <a:ext cx="1727200" cy="12700"/>
          </a:xfrm>
          <a:prstGeom prst="rect">
            <a:avLst/>
          </a:prstGeom>
          <a:solidFill>
            <a:srgbClr val="26394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588000" y="3352800"/>
            <a:ext cx="17272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审批流、资产与宿舍工单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721600" y="1905000"/>
            <a:ext cx="2133600" cy="3175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7924800" y="2159000"/>
            <a:ext cx="17272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人事薪酬</a:t>
            </a:r>
            <a:endParaRPr lang="zh-CN" altLang="en-US" sz="14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924800" y="2540000"/>
            <a:ext cx="17272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入转调离与核算</a:t>
            </a:r>
            <a:endParaRPr lang="zh-CN" altLang="en-US" sz="11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924800" y="3200400"/>
            <a:ext cx="1727200" cy="12700"/>
          </a:xfrm>
          <a:prstGeom prst="rect">
            <a:avLst/>
          </a:prstGeom>
          <a:solidFill>
            <a:srgbClr val="26394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7924800" y="3352800"/>
            <a:ext cx="17272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材料收集</a:t>
            </a:r>
            <a:r>
              <a:rPr lang="en-US" altLang="zh-CN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校验</a:t>
            </a:r>
            <a:r>
              <a:rPr lang="en-US" altLang="zh-CN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</a:t>
            </a:r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核算辅助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10058400" y="1905000"/>
            <a:ext cx="2133600" cy="3175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10261600" y="2159000"/>
            <a:ext cx="17272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财务对账</a:t>
            </a:r>
            <a:endParaRPr lang="zh-CN" altLang="en-US" sz="14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261600" y="2540000"/>
            <a:ext cx="1727200" cy="1765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应收应付与报销</a:t>
            </a:r>
            <a:endParaRPr lang="zh-CN" altLang="en-US" sz="11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261600" y="3200400"/>
            <a:ext cx="1727200" cy="12700"/>
          </a:xfrm>
          <a:prstGeom prst="rect">
            <a:avLst/>
          </a:prstGeom>
          <a:solidFill>
            <a:srgbClr val="26394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0261600" y="3352800"/>
            <a:ext cx="17272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单据识别、对账、异常标记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11200" y="5461000"/>
            <a:ext cx="10769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知识库：制度、模板、问答与业务文档清洗入库（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WP05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），抽测回答正确率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≥ 90%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，引用可追溯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711200" y="5765800"/>
            <a:ext cx="10769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每条自动化均有：乙方设计配置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甲方两轮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UAT · 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书面验收证据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1200" y="457200"/>
            <a:ext cx="7620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05 / ROADMAP</a:t>
            </a:r>
            <a:endParaRPr lang="en-US" altLang="en-US" sz="105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" y="711200"/>
            <a:ext cx="1076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四个闸门，逐段放行</a:t>
            </a:r>
            <a:endParaRPr lang="zh-CN" altLang="en-US" sz="26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1200" y="1270000"/>
            <a:ext cx="558800" cy="3175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1200" y="1422400"/>
            <a:ext cx="10769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未达到质量或产能门槛时，岗位调整自动暂停。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1200" y="6527800"/>
            <a:ext cx="53340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江南理工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AI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编制优化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43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岗情景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69600" y="6527800"/>
            <a:ext cx="711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6 / 14</a:t>
            </a:r>
            <a:endParaRPr lang="en-US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1200" y="2133600"/>
            <a:ext cx="10769600" cy="25400"/>
          </a:xfrm>
          <a:prstGeom prst="rect">
            <a:avLst/>
          </a:prstGeom>
          <a:solidFill>
            <a:srgbClr val="26394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930400" y="2057400"/>
            <a:ext cx="127000" cy="1524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711200" y="2413000"/>
            <a:ext cx="2540000" cy="2921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14400" y="26416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altLang="en-US" b="1">
              <a:solidFill>
                <a:srgbClr val="5EC6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71600" y="2717800"/>
            <a:ext cx="1651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1–2 </a:t>
            </a:r>
            <a:r>
              <a:rPr lang="zh-CN" altLang="en-US" sz="10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endParaRPr lang="zh-CN" altLang="en-US" sz="100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14400" y="3098800"/>
            <a:ext cx="21336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建立真实基线</a:t>
            </a:r>
            <a:endParaRPr lang="zh-CN" altLang="en-US" sz="14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14400" y="3454400"/>
            <a:ext cx="21336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盘点</a:t>
            </a:r>
            <a:r>
              <a:rPr lang="en-US" altLang="zh-CN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300 </a:t>
            </a:r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人、岗位、任务量、系统与薪酬口径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914400" y="4546600"/>
            <a:ext cx="2133600" cy="584200"/>
          </a:xfrm>
          <a:prstGeom prst="roundRect">
            <a:avLst/>
          </a:prstGeom>
          <a:solidFill>
            <a:srgbClr val="101E30"/>
          </a:solidFill>
          <a:ln w="9525">
            <a:solidFill>
              <a:srgbClr val="80F5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41400" y="4699000"/>
            <a:ext cx="1879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闸门：数据完整率</a:t>
            </a:r>
            <a:r>
              <a:rPr lang="en-US" altLang="zh-CN" sz="10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≥ 95%</a:t>
            </a:r>
            <a:endParaRPr lang="en-US" altLang="zh-CN" sz="10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673600" y="2057400"/>
            <a:ext cx="127000" cy="1524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3454400" y="2413000"/>
            <a:ext cx="2540000" cy="2921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3657600" y="26416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altLang="en-US" b="1">
              <a:solidFill>
                <a:srgbClr val="5EC6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114800" y="2717800"/>
            <a:ext cx="1651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3–12 </a:t>
            </a:r>
            <a:r>
              <a:rPr lang="zh-CN" altLang="en-US" sz="10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endParaRPr lang="zh-CN" altLang="en-US" sz="100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657600" y="3098800"/>
            <a:ext cx="21336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4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 </a:t>
            </a:r>
            <a:r>
              <a:rPr lang="zh-CN" altLang="en-US" sz="14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天受控试点</a:t>
            </a:r>
            <a:endParaRPr lang="zh-CN" altLang="en-US" sz="14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657600" y="3454400"/>
            <a:ext cx="2133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上线五类工作流，记录工时与质量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3657600" y="4546600"/>
            <a:ext cx="2133600" cy="584200"/>
          </a:xfrm>
          <a:prstGeom prst="roundRect">
            <a:avLst/>
          </a:prstGeom>
          <a:solidFill>
            <a:srgbClr val="101E30"/>
          </a:solidFill>
          <a:ln w="9525">
            <a:solidFill>
              <a:srgbClr val="80F5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784600" y="4699000"/>
            <a:ext cx="1879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闸门：连续</a:t>
            </a:r>
            <a:r>
              <a:rPr lang="en-US" altLang="zh-CN" sz="10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10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周达标</a:t>
            </a:r>
            <a:endParaRPr lang="zh-CN" altLang="en-US" sz="10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7416800" y="2057400"/>
            <a:ext cx="127000" cy="1524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6197600" y="2413000"/>
            <a:ext cx="2540000" cy="2921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6400800" y="26416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altLang="en-US" b="1">
              <a:solidFill>
                <a:srgbClr val="5EC6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858000" y="2717800"/>
            <a:ext cx="1651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4–6 </a:t>
            </a:r>
            <a:r>
              <a:rPr lang="zh-CN" altLang="en-US" sz="10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100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400800" y="3098800"/>
            <a:ext cx="21336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规模化与定编</a:t>
            </a:r>
            <a:endParaRPr lang="zh-CN" altLang="en-US" sz="14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400800" y="3454400"/>
            <a:ext cx="21336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扩展至各校区，冻结重复招聘，审批岗位上限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6400800" y="4546600"/>
            <a:ext cx="2133600" cy="584200"/>
          </a:xfrm>
          <a:prstGeom prst="roundRect">
            <a:avLst/>
          </a:prstGeom>
          <a:solidFill>
            <a:srgbClr val="101E30"/>
          </a:solidFill>
          <a:ln w="9525">
            <a:solidFill>
              <a:srgbClr val="80F5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6527800" y="4699000"/>
            <a:ext cx="1879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闸门：财务、人资、业务三签</a:t>
            </a:r>
            <a:endParaRPr lang="zh-CN" altLang="en-US" sz="10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0160000" y="2057400"/>
            <a:ext cx="127000" cy="1524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圆角矩形 34"/>
          <p:cNvSpPr/>
          <p:nvPr/>
        </p:nvSpPr>
        <p:spPr>
          <a:xfrm>
            <a:off x="8940800" y="2413000"/>
            <a:ext cx="2540000" cy="2921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9144000" y="2641600"/>
            <a:ext cx="508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altLang="en-US" b="1">
              <a:solidFill>
                <a:srgbClr val="5EC6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601200" y="2717800"/>
            <a:ext cx="1651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7–12 </a:t>
            </a:r>
            <a:r>
              <a:rPr lang="zh-CN" altLang="en-US" sz="10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100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144000" y="3098800"/>
            <a:ext cx="21336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兑现与审计</a:t>
            </a:r>
            <a:endParaRPr lang="zh-CN" altLang="en-US" sz="14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144000" y="3454400"/>
            <a:ext cx="21336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按月核验工资节约、软件支出与服务质量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9144000" y="4546600"/>
            <a:ext cx="2133600" cy="584200"/>
          </a:xfrm>
          <a:prstGeom prst="roundRect">
            <a:avLst/>
          </a:prstGeom>
          <a:solidFill>
            <a:srgbClr val="101E30"/>
          </a:solidFill>
          <a:ln w="9525">
            <a:solidFill>
              <a:srgbClr val="80F5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9271000" y="4699000"/>
            <a:ext cx="1879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闸门：净节约</a:t>
            </a:r>
            <a:r>
              <a:rPr lang="en-US" altLang="zh-CN" sz="10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≥ 200 </a:t>
            </a:r>
            <a:r>
              <a:rPr lang="zh-CN" altLang="en-US" sz="10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10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11200" y="5638800"/>
            <a:ext cx="10769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每个闸门都是甲方可复核的决策点：继续、调整或暂停，均以书面验收证据为依据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1200" y="457200"/>
            <a:ext cx="7620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06 / WORK PACKAGES</a:t>
            </a:r>
            <a:endParaRPr lang="en-US" altLang="en-US" sz="105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" y="711200"/>
            <a:ext cx="1076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甲方买到的，是</a:t>
            </a:r>
            <a:r>
              <a:rPr lang="en-US" altLang="zh-CN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个工作包</a:t>
            </a:r>
            <a:endParaRPr lang="zh-CN" altLang="en-US" sz="26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1200" y="1270000"/>
            <a:ext cx="558800" cy="3175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1200" y="1422400"/>
            <a:ext cx="10769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每个工作包明确乙方动作、甲方配合、书面交付物与验收证据。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1200" y="6527800"/>
            <a:ext cx="53340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江南理工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AI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编制优化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43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岗情景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69600" y="6527800"/>
            <a:ext cx="711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7 / 14</a:t>
            </a:r>
            <a:endParaRPr lang="en-US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11200" y="1854200"/>
            <a:ext cx="5283200" cy="762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11200" y="1854200"/>
            <a:ext cx="38100" cy="7620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89000" y="1955800"/>
            <a:ext cx="762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WP01</a:t>
            </a:r>
            <a:endParaRPr lang="en-US" altLang="en-US" sz="11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9000" y="2184400"/>
            <a:ext cx="3175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项目启动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1-2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</a:t>
            </a:r>
            <a:endParaRPr lang="zh-CN" altLang="en-US" sz="10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743200" y="1968500"/>
            <a:ext cx="30480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《项目章程》双方签字</a:t>
            </a:r>
            <a:endParaRPr lang="zh-CN" altLang="en-US" sz="9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711200" y="2717800"/>
            <a:ext cx="5283200" cy="762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11200" y="2717800"/>
            <a:ext cx="38100" cy="7620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89000" y="2819400"/>
            <a:ext cx="762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WP02</a:t>
            </a:r>
            <a:endParaRPr lang="en-US" altLang="en-US" sz="11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89000" y="3048000"/>
            <a:ext cx="3175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组织与岗位盘点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1-10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</a:t>
            </a:r>
            <a:endParaRPr lang="zh-CN" altLang="en-US" sz="10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743200" y="2832100"/>
            <a:ext cx="30480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</a:t>
            </a:r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人岗位底账》覆盖率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≥95%</a:t>
            </a:r>
            <a:endParaRPr lang="en-US" altLang="zh-CN" sz="9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711200" y="3581400"/>
            <a:ext cx="5283200" cy="762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711200" y="3581400"/>
            <a:ext cx="38100" cy="7620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89000" y="3683000"/>
            <a:ext cx="762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WP03</a:t>
            </a:r>
            <a:endParaRPr lang="en-US" altLang="en-US" sz="11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89000" y="3911600"/>
            <a:ext cx="3175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任务与工时基线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3-15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</a:t>
            </a:r>
            <a:endParaRPr lang="zh-CN" altLang="en-US" sz="10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743200" y="3695700"/>
            <a:ext cx="30480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《任务工时基线》覆盖率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≥90%</a:t>
            </a:r>
            <a:endParaRPr lang="en-US" altLang="zh-CN" sz="9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11200" y="4445000"/>
            <a:ext cx="5283200" cy="762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11200" y="4445000"/>
            <a:ext cx="38100" cy="7620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889000" y="4546600"/>
            <a:ext cx="762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WP04</a:t>
            </a:r>
            <a:endParaRPr lang="en-US" altLang="en-US" sz="11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89000" y="4775200"/>
            <a:ext cx="3175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流程与系统诊断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1-3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endParaRPr lang="zh-CN" altLang="en-US" sz="10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743200" y="4559300"/>
            <a:ext cx="30480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《流程与系统蓝图》五域确认</a:t>
            </a:r>
            <a:endParaRPr lang="zh-CN" altLang="en-US" sz="9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711200" y="5308600"/>
            <a:ext cx="5283200" cy="762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711200" y="5308600"/>
            <a:ext cx="38100" cy="7620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889000" y="5410200"/>
            <a:ext cx="762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WP05</a:t>
            </a:r>
            <a:endParaRPr lang="en-US" altLang="en-US" sz="11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89000" y="5638800"/>
            <a:ext cx="3175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3-8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endParaRPr lang="zh-CN" altLang="en-US" sz="10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743200" y="5422900"/>
            <a:ext cx="30480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V1 </a:t>
            </a:r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正确率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≥90%</a:t>
            </a:r>
            <a:endParaRPr lang="en-US" altLang="zh-CN" sz="9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6197600" y="1854200"/>
            <a:ext cx="5283200" cy="762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6197600" y="1854200"/>
            <a:ext cx="38100" cy="7620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6375400" y="1955800"/>
            <a:ext cx="762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WP06</a:t>
            </a:r>
            <a:endParaRPr lang="en-US" altLang="en-US" sz="11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375400" y="2184400"/>
            <a:ext cx="3175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条核心自动化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4-10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endParaRPr lang="zh-CN" altLang="en-US" sz="10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229600" y="1968500"/>
            <a:ext cx="30480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条流程包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成功率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≥95%</a:t>
            </a:r>
            <a:endParaRPr lang="en-US" altLang="zh-CN" sz="9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197600" y="2717800"/>
            <a:ext cx="5283200" cy="762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6197600" y="2717800"/>
            <a:ext cx="38100" cy="7620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6375400" y="2819400"/>
            <a:ext cx="762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WP07</a:t>
            </a:r>
            <a:endParaRPr lang="en-US" altLang="en-US" sz="11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6375400" y="3048000"/>
            <a:ext cx="3175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天产能验证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9-12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endParaRPr lang="zh-CN" altLang="en-US" sz="10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229600" y="2832100"/>
            <a:ext cx="30480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《试点验收报告》连续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周达标</a:t>
            </a:r>
            <a:endParaRPr lang="zh-CN" altLang="en-US" sz="9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6197600" y="3581400"/>
            <a:ext cx="5283200" cy="762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6197600" y="3581400"/>
            <a:ext cx="38100" cy="7620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6375400" y="3683000"/>
            <a:ext cx="762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WP08</a:t>
            </a:r>
            <a:endParaRPr lang="en-US" altLang="en-US" sz="11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375400" y="3911600"/>
            <a:ext cx="3175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规模化推广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4-6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10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229600" y="3695700"/>
            <a:ext cx="30480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生产版本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目标校区上线率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100%</a:t>
            </a:r>
            <a:endParaRPr lang="en-US" altLang="zh-CN" sz="9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6197600" y="4445000"/>
            <a:ext cx="5283200" cy="762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6197600" y="4445000"/>
            <a:ext cx="38100" cy="7620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6375400" y="4546600"/>
            <a:ext cx="762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WP09</a:t>
            </a:r>
            <a:endParaRPr lang="en-US" altLang="en-US" sz="11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375400" y="4775200"/>
            <a:ext cx="3175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编制与转岗方案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5-8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10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229600" y="4559300"/>
            <a:ext cx="30480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《编制优化方案》四方会签</a:t>
            </a:r>
            <a:endParaRPr lang="zh-CN" altLang="en-US" sz="9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6197600" y="5308600"/>
            <a:ext cx="5283200" cy="762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6197600" y="5308600"/>
            <a:ext cx="38100" cy="7620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6375400" y="5410200"/>
            <a:ext cx="762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1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WP10</a:t>
            </a:r>
            <a:endParaRPr lang="en-US" altLang="en-US" sz="11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375400" y="5638800"/>
            <a:ext cx="3175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节约审计与移交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7-12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10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8229600" y="5422900"/>
            <a:ext cx="30480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《年度验收报告》净节约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≥200</a:t>
            </a:r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9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11200" y="6223000"/>
            <a:ext cx="107696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正式合同可直接以此表作为工作说明书（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SOW</a:t>
            </a:r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）基础</a:t>
            </a:r>
            <a:endParaRPr lang="zh-CN" altLang="en-US" sz="9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1200" y="457200"/>
            <a:ext cx="7620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07 / ACCEPTANCE</a:t>
            </a:r>
            <a:endParaRPr lang="en-US" altLang="en-US" sz="105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" y="711200"/>
            <a:ext cx="1076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怎么证明项目真的做成了</a:t>
            </a:r>
            <a:endParaRPr lang="zh-CN" altLang="en-US" sz="26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1200" y="1270000"/>
            <a:ext cx="558800" cy="3175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1200" y="1422400"/>
            <a:ext cx="10769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同时看产能、质量、使用和现金；单纯上线软件或单纯减人都不算成功。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1200" y="6527800"/>
            <a:ext cx="53340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江南理工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AI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编制优化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43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岗情景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69600" y="6527800"/>
            <a:ext cx="711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8 / 14</a:t>
            </a:r>
            <a:endParaRPr lang="en-US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11200" y="1879600"/>
            <a:ext cx="5283200" cy="14986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39800" y="2082800"/>
            <a:ext cx="2540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流程效率</a:t>
            </a:r>
            <a:endParaRPr lang="zh-CN" altLang="en-US" sz="110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39800" y="2362200"/>
            <a:ext cx="38100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2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30–50%</a:t>
            </a:r>
            <a:endParaRPr lang="en-US" altLang="en-US" sz="22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39800" y="2819400"/>
            <a:ext cx="48260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试点流程单件处理时间目标降幅，按系统日志与抽样工时验收</a:t>
            </a:r>
            <a:endParaRPr lang="zh-CN" altLang="en-US" sz="9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6197600" y="1879600"/>
            <a:ext cx="5283200" cy="14986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426200" y="2082800"/>
            <a:ext cx="2540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质量红线</a:t>
            </a:r>
            <a:endParaRPr lang="zh-CN" altLang="en-US" sz="110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26200" y="2362200"/>
            <a:ext cx="38100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2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严重错误</a:t>
            </a:r>
            <a:r>
              <a:rPr lang="en-US" altLang="zh-CN" sz="22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0</a:t>
            </a:r>
            <a:endParaRPr lang="en-US" altLang="zh-CN" sz="22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426200" y="2819400"/>
            <a:ext cx="48260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自动化成功率</a:t>
            </a:r>
            <a:r>
              <a:rPr lang="en-US" altLang="zh-CN" sz="9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≥ 95%</a:t>
            </a:r>
            <a:r>
              <a:rPr lang="zh-CN" altLang="en-US" sz="9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，错误与返工按周复盘</a:t>
            </a:r>
            <a:endParaRPr lang="zh-CN" altLang="en-US" sz="9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711200" y="3530600"/>
            <a:ext cx="5283200" cy="14986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39800" y="3733800"/>
            <a:ext cx="2540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用户采用</a:t>
            </a:r>
            <a:endParaRPr lang="zh-CN" altLang="en-US" sz="110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39800" y="4013200"/>
            <a:ext cx="38100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2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周活跃</a:t>
            </a:r>
            <a:r>
              <a:rPr lang="en-US" altLang="zh-CN" sz="22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≥ 80%</a:t>
            </a:r>
            <a:endParaRPr lang="en-US" altLang="zh-CN" sz="22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39800" y="4470400"/>
            <a:ext cx="48260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目标用户周活跃率</a:t>
            </a:r>
            <a:r>
              <a:rPr lang="en-US" altLang="zh-CN" sz="9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≥ 80%</a:t>
            </a:r>
            <a:r>
              <a:rPr lang="zh-CN" altLang="en-US" sz="9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，培训通过率</a:t>
            </a:r>
            <a:r>
              <a:rPr lang="en-US" altLang="zh-CN" sz="9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≥ 90%</a:t>
            </a:r>
            <a:r>
              <a:rPr lang="zh-CN" altLang="en-US" sz="9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，看登录日志</a:t>
            </a:r>
            <a:endParaRPr lang="zh-CN" altLang="en-US" sz="9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197600" y="3530600"/>
            <a:ext cx="5283200" cy="14986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426200" y="3733800"/>
            <a:ext cx="2540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财务结果</a:t>
            </a:r>
            <a:endParaRPr lang="zh-CN" altLang="en-US" sz="110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426200" y="4013200"/>
            <a:ext cx="38100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2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净节约</a:t>
            </a:r>
            <a:r>
              <a:rPr lang="en-US" altLang="zh-CN" sz="22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≥ 200 </a:t>
            </a:r>
            <a:r>
              <a:rPr lang="zh-CN" altLang="en-US" sz="22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22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426200" y="4470400"/>
            <a:ext cx="48260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按真实生效日期计算；未达标形成差距原因与</a:t>
            </a:r>
            <a:r>
              <a:rPr lang="en-US" altLang="zh-CN" sz="9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90 </a:t>
            </a:r>
            <a:r>
              <a:rPr lang="zh-CN" altLang="en-US" sz="9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天整改</a:t>
            </a:r>
            <a:endParaRPr lang="zh-CN" altLang="en-US" sz="9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711200" y="5130800"/>
            <a:ext cx="10769600" cy="711200"/>
          </a:xfrm>
          <a:prstGeom prst="roundRect">
            <a:avLst/>
          </a:prstGeom>
          <a:solidFill>
            <a:srgbClr val="101E30"/>
          </a:solidFill>
          <a:ln w="9525">
            <a:solidFill>
              <a:srgbClr val="80F5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965200" y="5308600"/>
            <a:ext cx="1778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首年净节约公式</a:t>
            </a:r>
            <a:endParaRPr lang="zh-CN" altLang="en-US" sz="11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921000" y="5257800"/>
            <a:ext cx="8382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已减少的人力全成本</a:t>
            </a:r>
            <a:r>
              <a:rPr lang="en-US" altLang="zh-CN" sz="14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 AI </a:t>
            </a:r>
            <a:r>
              <a:rPr lang="zh-CN" altLang="en-US" sz="14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与软件实际支出</a:t>
            </a:r>
            <a:r>
              <a:rPr lang="en-US" altLang="zh-CN" sz="14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− </a:t>
            </a:r>
            <a:r>
              <a:rPr lang="zh-CN" altLang="en-US" sz="14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实施及转型实际支出</a:t>
            </a:r>
            <a:endParaRPr lang="zh-CN" altLang="en-US" sz="14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921000" y="5562600"/>
            <a:ext cx="838200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经济补偿单独列示；岗位生效日期、空缺冻结与自然流失均有可审计记录</a:t>
            </a:r>
            <a:endParaRPr lang="zh-CN" altLang="en-US" sz="9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1200" y="457200"/>
            <a:ext cx="7620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08 / COMMERCIAL OFFER</a:t>
            </a:r>
            <a:endParaRPr lang="en-US" altLang="en-US" sz="105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" y="711200"/>
            <a:ext cx="1076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 </a:t>
            </a:r>
            <a:r>
              <a:rPr lang="zh-CN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万服务费，分阶段购买结果</a:t>
            </a:r>
            <a:endParaRPr lang="zh-CN" altLang="en-US" sz="26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1200" y="1270000"/>
            <a:ext cx="558800" cy="3175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1200" y="1422400"/>
            <a:ext cx="10769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每个决策闸门可复核范围；服务费固定，软件与集成按实际采购控制。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1200" y="6527800"/>
            <a:ext cx="53340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江南理工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AI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编制优化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43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岗情景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69600" y="6527800"/>
            <a:ext cx="711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9 / 14</a:t>
            </a:r>
            <a:endParaRPr lang="en-US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11200" y="1828800"/>
            <a:ext cx="5080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专业服务费</a:t>
            </a:r>
            <a:r>
              <a:rPr lang="en-US" altLang="zh-CN" sz="13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68 </a:t>
            </a:r>
            <a:r>
              <a:rPr lang="zh-CN" altLang="en-US" sz="13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万（</a:t>
            </a:r>
            <a:r>
              <a:rPr lang="en-US" altLang="zh-CN" sz="13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</a:t>
            </a:r>
            <a:r>
              <a:rPr lang="zh-CN" altLang="en-US" sz="13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个月全周期）</a:t>
            </a:r>
            <a:endParaRPr lang="zh-CN" altLang="en-US" sz="13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11200" y="2184400"/>
            <a:ext cx="5283200" cy="7112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14400" y="2298700"/>
            <a:ext cx="3810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基线诊断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1-2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endParaRPr lang="zh-CN" altLang="en-US" sz="10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14400" y="2565400"/>
            <a:ext cx="406400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任务盘点、数据模型、试点设计</a:t>
            </a:r>
            <a:endParaRPr lang="zh-CN" altLang="en-US" sz="9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26000" y="2387600"/>
            <a:ext cx="1016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5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6.8 </a:t>
            </a:r>
            <a:r>
              <a:rPr lang="zh-CN" altLang="en-US" sz="15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15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711200" y="2997200"/>
            <a:ext cx="5283200" cy="7112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14400" y="3111500"/>
            <a:ext cx="3810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 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天试点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3-12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</a:t>
            </a:r>
            <a:endParaRPr lang="zh-CN" altLang="en-US" sz="10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14400" y="3378200"/>
            <a:ext cx="406400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五类工作流、知识库、产能验证</a:t>
            </a:r>
            <a:endParaRPr lang="zh-CN" altLang="en-US" sz="9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26000" y="3200400"/>
            <a:ext cx="1016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5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19.8 </a:t>
            </a:r>
            <a:r>
              <a:rPr lang="zh-CN" altLang="en-US" sz="15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15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711200" y="3810000"/>
            <a:ext cx="5283200" cy="7112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914400" y="3924300"/>
            <a:ext cx="3810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规模化落地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4-6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10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14400" y="4191000"/>
            <a:ext cx="406400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流程推广、系统衔接、定编方案</a:t>
            </a:r>
            <a:endParaRPr lang="zh-CN" altLang="en-US" sz="9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26000" y="4013200"/>
            <a:ext cx="1016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5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26.8 </a:t>
            </a:r>
            <a:r>
              <a:rPr lang="zh-CN" altLang="en-US" sz="15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15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711200" y="4622800"/>
            <a:ext cx="5283200" cy="7112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914400" y="4737100"/>
            <a:ext cx="3810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治理与验收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7-12</a:t>
            </a:r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sz="10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914400" y="5003800"/>
            <a:ext cx="406400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月度审计、培训、年度验收</a:t>
            </a:r>
            <a:endParaRPr lang="zh-CN" altLang="en-US" sz="9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826000" y="4826000"/>
            <a:ext cx="1016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5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14.6 </a:t>
            </a:r>
            <a:r>
              <a:rPr lang="zh-CN" altLang="en-US" sz="15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15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711200" y="5537200"/>
            <a:ext cx="5283200" cy="558800"/>
          </a:xfrm>
          <a:prstGeom prst="roundRect">
            <a:avLst/>
          </a:prstGeom>
          <a:solidFill>
            <a:srgbClr val="101E30"/>
          </a:solidFill>
          <a:ln w="9525">
            <a:solidFill>
              <a:srgbClr val="80F5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914400" y="5689600"/>
            <a:ext cx="25400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专业服务合计</a:t>
            </a:r>
            <a:endParaRPr lang="zh-CN" altLang="en-US" sz="12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064000" y="5638800"/>
            <a:ext cx="1778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68.0 </a:t>
            </a:r>
            <a:r>
              <a:rPr lang="zh-CN" altLang="en-US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502400" y="1828800"/>
            <a:ext cx="49784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推荐项目预算上限</a:t>
            </a:r>
            <a:endParaRPr lang="zh-CN" altLang="en-US" sz="13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6502400" y="2184400"/>
            <a:ext cx="4978400" cy="13716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807200" y="2336800"/>
            <a:ext cx="1524000" cy="676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4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98</a:t>
            </a:r>
            <a:endParaRPr lang="en-US" altLang="en-US" sz="44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908800" y="3098800"/>
            <a:ext cx="1270000" cy="184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2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2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382000" y="2362200"/>
            <a:ext cx="177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专业服务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160000" y="2336800"/>
            <a:ext cx="1270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3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 </a:t>
            </a:r>
            <a:r>
              <a:rPr lang="zh-CN" altLang="en-US" sz="13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13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382000" y="2743200"/>
            <a:ext cx="177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软件与模型许可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160000" y="2717800"/>
            <a:ext cx="1270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3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</a:t>
            </a:r>
            <a:r>
              <a:rPr lang="zh-CN" altLang="en-US" sz="13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13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382000" y="3124200"/>
            <a:ext cx="1778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系统集成预备金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0160000" y="3098800"/>
            <a:ext cx="1270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3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</a:t>
            </a:r>
            <a:r>
              <a:rPr lang="zh-CN" altLang="en-US" sz="13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13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807200" y="3708400"/>
            <a:ext cx="452120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软件许可合理区间</a:t>
            </a:r>
            <a:r>
              <a:rPr lang="en-US" altLang="zh-CN" sz="9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12–25 </a:t>
            </a:r>
            <a:r>
              <a:rPr lang="zh-CN" altLang="en-US" sz="9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r>
              <a:rPr lang="en-US" altLang="zh-CN" sz="9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9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年；深度集成按需启用，建议预留</a:t>
            </a:r>
            <a:r>
              <a:rPr lang="en-US" altLang="zh-CN" sz="9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0–20 </a:t>
            </a:r>
            <a:r>
              <a:rPr lang="zh-CN" altLang="en-US" sz="9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9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502400" y="4318000"/>
            <a:ext cx="49784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付款节奏（按服务费</a:t>
            </a:r>
            <a:r>
              <a:rPr lang="en-US" altLang="zh-CN" sz="11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68 </a:t>
            </a:r>
            <a:r>
              <a:rPr lang="zh-CN" altLang="en-US" sz="11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万）</a:t>
            </a:r>
            <a:endParaRPr lang="zh-CN" altLang="en-US" sz="11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6502400" y="4622800"/>
            <a:ext cx="1168400" cy="9652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6629400" y="4749800"/>
            <a:ext cx="9144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20%</a:t>
            </a:r>
            <a:endParaRPr lang="en-US" altLang="en-US" sz="14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629400" y="5054600"/>
            <a:ext cx="9144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8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签约启动</a:t>
            </a:r>
            <a:endParaRPr lang="zh-CN" altLang="en-US" sz="8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629400" y="5283200"/>
            <a:ext cx="9144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13.6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7772400" y="4622800"/>
            <a:ext cx="1168400" cy="9652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7899400" y="4749800"/>
            <a:ext cx="9144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30%</a:t>
            </a:r>
            <a:endParaRPr lang="en-US" altLang="en-US" sz="14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899400" y="5054600"/>
            <a:ext cx="9144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8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试点上线</a:t>
            </a:r>
            <a:endParaRPr lang="zh-CN" altLang="en-US" sz="8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899400" y="5283200"/>
            <a:ext cx="9144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20.4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9042400" y="4622800"/>
            <a:ext cx="1168400" cy="9652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9169400" y="4749800"/>
            <a:ext cx="9144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30%</a:t>
            </a:r>
            <a:endParaRPr lang="en-US" altLang="en-US" sz="14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9169400" y="5054600"/>
            <a:ext cx="9144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8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 </a:t>
            </a:r>
            <a:r>
              <a:rPr lang="zh-CN" altLang="en-US" sz="8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天验收</a:t>
            </a:r>
            <a:endParaRPr lang="zh-CN" altLang="en-US" sz="8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9169400" y="5283200"/>
            <a:ext cx="9144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20.4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10312400" y="4622800"/>
            <a:ext cx="1168400" cy="9652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10439400" y="4749800"/>
            <a:ext cx="9144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1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20%</a:t>
            </a:r>
            <a:endParaRPr lang="en-US" altLang="en-US" sz="14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0439400" y="5054600"/>
            <a:ext cx="9144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8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年度验收</a:t>
            </a:r>
            <a:endParaRPr lang="zh-CN" altLang="en-US" sz="8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0439400" y="5283200"/>
            <a:ext cx="9144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13.6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502400" y="5791200"/>
            <a:ext cx="497840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员工经济补偿、税费、硬件与差旅另行预算。</a:t>
            </a:r>
            <a:endParaRPr lang="zh-CN" altLang="en-US" sz="9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1200" y="457200"/>
            <a:ext cx="7620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09 / RETURNS</a:t>
            </a:r>
            <a:endParaRPr lang="en-US" altLang="en-US" sz="105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" y="711200"/>
            <a:ext cx="1076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回报测算：三档口径</a:t>
            </a:r>
            <a:endParaRPr lang="zh-CN" altLang="en-US" sz="26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1200" y="1270000"/>
            <a:ext cx="558800" cy="3175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1200" y="1422400"/>
            <a:ext cx="10769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参数取自网站交互测算默认值，可按集团口径调整。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1200" y="6527800"/>
            <a:ext cx="53340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江南理工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AI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编制优化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43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岗情景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69600" y="6527800"/>
            <a:ext cx="711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10 / 14</a:t>
            </a:r>
            <a:endParaRPr lang="en-US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11200" y="1879600"/>
            <a:ext cx="7112000" cy="3810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16000" y="2336800"/>
            <a:ext cx="3048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首年毛节约</a:t>
            </a:r>
            <a:endParaRPr lang="zh-CN" altLang="en-US" sz="10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16000" y="2590800"/>
            <a:ext cx="4000500" cy="3302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143500" y="2616200"/>
            <a:ext cx="1270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387 </a:t>
            </a:r>
            <a:r>
              <a:rPr lang="zh-CN" altLang="en-US" sz="1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14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16000" y="3302000"/>
            <a:ext cx="3048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首年净节约（补偿前）</a:t>
            </a:r>
            <a:endParaRPr lang="zh-CN" altLang="en-US" sz="10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16000" y="3556000"/>
            <a:ext cx="2628900" cy="330200"/>
          </a:xfrm>
          <a:prstGeom prst="rect">
            <a:avLst/>
          </a:prstGeom>
          <a:solidFill>
            <a:srgbClr val="5EC6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3771900" y="3581400"/>
            <a:ext cx="1270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40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254 </a:t>
            </a:r>
            <a:r>
              <a:rPr lang="zh-CN" altLang="en-US" sz="140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1400" b="1">
              <a:solidFill>
                <a:srgbClr val="5EC6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016000" y="4267200"/>
            <a:ext cx="3048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稳态年度节约</a:t>
            </a:r>
            <a:endParaRPr lang="zh-CN" altLang="en-US" sz="105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016000" y="4521200"/>
            <a:ext cx="5334000" cy="3302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477000" y="4546600"/>
            <a:ext cx="12700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516 </a:t>
            </a:r>
            <a:r>
              <a:rPr lang="zh-CN" altLang="en-US" sz="14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14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16000" y="5029200"/>
            <a:ext cx="6350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8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                                    100                                  200                                 300                                400                                500                    (</a:t>
            </a:r>
            <a:r>
              <a:rPr lang="zh-CN" altLang="en-US" sz="8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万元</a:t>
            </a:r>
            <a:r>
              <a:rPr lang="en-US" altLang="zh-CN" sz="8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8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128000" y="1879600"/>
            <a:ext cx="3352800" cy="1778000"/>
          </a:xfrm>
          <a:prstGeom prst="roundRect">
            <a:avLst/>
          </a:prstGeom>
          <a:solidFill>
            <a:srgbClr val="101E30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82000" y="2133600"/>
            <a:ext cx="28448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岗位生效后简单回收期</a:t>
            </a:r>
            <a:endParaRPr lang="zh-CN" altLang="en-US" sz="100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382000" y="2438400"/>
            <a:ext cx="2844800" cy="461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0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 </a:t>
            </a:r>
            <a:r>
              <a:rPr lang="zh-CN" altLang="en-US" sz="30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个月</a:t>
            </a:r>
            <a:endParaRPr lang="zh-CN" altLang="en-US" sz="30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382000" y="3098800"/>
            <a:ext cx="284480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按净节约口径（补偿前）</a:t>
            </a:r>
            <a:endParaRPr lang="zh-CN" altLang="en-US" sz="9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8128000" y="3860800"/>
            <a:ext cx="3352800" cy="18288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8382000" y="4114800"/>
            <a:ext cx="28448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 b="1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验收底线</a:t>
            </a:r>
            <a:endParaRPr lang="zh-CN" altLang="en-US" sz="1000" b="1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382000" y="4419600"/>
            <a:ext cx="2844800" cy="368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40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 200 </a:t>
            </a:r>
            <a:r>
              <a:rPr lang="zh-CN" altLang="en-US" sz="240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2400" b="1">
              <a:solidFill>
                <a:srgbClr val="5EC6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8382000" y="4953000"/>
            <a:ext cx="2844800" cy="1384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首年净节约目标；未达标形成差距原因与</a:t>
            </a:r>
            <a:r>
              <a:rPr lang="en-US" altLang="zh-CN" sz="9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90 </a:t>
            </a:r>
            <a:r>
              <a:rPr lang="zh-CN" altLang="en-US" sz="9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天整改计划</a:t>
            </a:r>
            <a:endParaRPr lang="zh-CN" altLang="en-US" sz="9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11200" y="5918200"/>
            <a:ext cx="10769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补偿金另行单独列示，不计入上述口径；网站提供可调参数的交互测算（单岗成本</a:t>
            </a:r>
            <a:r>
              <a:rPr lang="en-US" altLang="zh-CN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8–18 </a:t>
            </a:r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万、预算</a:t>
            </a:r>
            <a:r>
              <a:rPr lang="en-US" altLang="zh-CN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68–120 </a:t>
            </a:r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万、转型支出</a:t>
            </a:r>
            <a:r>
              <a:rPr lang="en-US" altLang="zh-CN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0–100 </a:t>
            </a:r>
            <a:r>
              <a:rPr lang="zh-CN" altLang="en-US" sz="10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万）</a:t>
            </a:r>
            <a:endParaRPr lang="zh-CN" altLang="en-US" sz="10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1200" y="457200"/>
            <a:ext cx="7620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10 / GOVERNANCE</a:t>
            </a:r>
            <a:endParaRPr lang="en-US" altLang="en-US" sz="105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" y="711200"/>
            <a:ext cx="1076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双方各自负责什么</a:t>
            </a:r>
            <a:endParaRPr lang="zh-CN" altLang="en-US" sz="26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1200" y="1270000"/>
            <a:ext cx="558800" cy="3175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1200" y="1422400"/>
            <a:ext cx="10769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项目进度取决于数据、接口人、决策与验收是否按时。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1200" y="6527800"/>
            <a:ext cx="53340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江南理工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AI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编制优化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43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岗情景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69600" y="6527800"/>
            <a:ext cx="711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11 / 14</a:t>
            </a:r>
            <a:endParaRPr lang="en-US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11200" y="1879600"/>
            <a:ext cx="5283200" cy="3810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65200" y="2133600"/>
            <a:ext cx="2540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乙方（专业服务）</a:t>
            </a:r>
            <a:endParaRPr lang="zh-CN" altLang="en-US" sz="13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965200" y="2603500"/>
            <a:ext cx="63500" cy="635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68400" y="2540000"/>
            <a:ext cx="4572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基线诊断、工作流设计与配置实施</a:t>
            </a:r>
            <a:endParaRPr lang="zh-CN" altLang="en-US" sz="10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65200" y="3162300"/>
            <a:ext cx="63500" cy="635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68400" y="3098800"/>
            <a:ext cx="4572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知识库建设与</a:t>
            </a:r>
            <a:r>
              <a:rPr lang="en-US" altLang="zh-CN" sz="10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 </a:t>
            </a:r>
            <a:r>
              <a:rPr lang="zh-CN" altLang="en-US" sz="10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条自动化交付</a:t>
            </a:r>
            <a:endParaRPr lang="zh-CN" altLang="en-US" sz="10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965200" y="3721100"/>
            <a:ext cx="63500" cy="635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68400" y="3657600"/>
            <a:ext cx="4572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产能数据记录与每周报告</a:t>
            </a:r>
            <a:endParaRPr lang="zh-CN" altLang="en-US" sz="10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65200" y="4279900"/>
            <a:ext cx="63500" cy="635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68400" y="4216400"/>
            <a:ext cx="4572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培训、文档与运维移交</a:t>
            </a:r>
            <a:endParaRPr lang="zh-CN" altLang="en-US" sz="10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965200" y="4838700"/>
            <a:ext cx="63500" cy="635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168400" y="4775200"/>
            <a:ext cx="4572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验收证据整理与差距整改方案</a:t>
            </a:r>
            <a:endParaRPr lang="zh-CN" altLang="en-US" sz="10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502400" y="1879600"/>
            <a:ext cx="5283200" cy="3810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756400" y="2133600"/>
            <a:ext cx="2540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</a:rPr>
              <a:t>甲方（集团）</a:t>
            </a:r>
            <a:endParaRPr lang="zh-CN" altLang="en-US" sz="1300" b="1">
              <a:solidFill>
                <a:srgbClr val="5EC6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756400" y="2603500"/>
            <a:ext cx="63500" cy="63500"/>
          </a:xfrm>
          <a:prstGeom prst="rect">
            <a:avLst/>
          </a:prstGeom>
          <a:solidFill>
            <a:srgbClr val="5EC6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959600" y="2540000"/>
            <a:ext cx="4572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任命项目发起人、项目经理与接口人</a:t>
            </a:r>
            <a:endParaRPr lang="zh-CN" altLang="en-US" sz="10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756400" y="3162300"/>
            <a:ext cx="63500" cy="63500"/>
          </a:xfrm>
          <a:prstGeom prst="rect">
            <a:avLst/>
          </a:prstGeom>
          <a:solidFill>
            <a:srgbClr val="5EC6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6959600" y="3098800"/>
            <a:ext cx="4572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提供组织、岗位、薪酬与系统数据</a:t>
            </a:r>
            <a:endParaRPr lang="zh-CN" altLang="en-US" sz="10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756400" y="3721100"/>
            <a:ext cx="63500" cy="63500"/>
          </a:xfrm>
          <a:prstGeom prst="rect">
            <a:avLst/>
          </a:prstGeom>
          <a:solidFill>
            <a:srgbClr val="5EC6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6959600" y="3657600"/>
            <a:ext cx="4572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安排不少于</a:t>
            </a:r>
            <a:r>
              <a:rPr lang="en-US" altLang="zh-CN" sz="10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30 </a:t>
            </a:r>
            <a:r>
              <a:rPr lang="zh-CN" altLang="en-US" sz="10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名岗位代表访谈</a:t>
            </a:r>
            <a:endParaRPr lang="zh-CN" altLang="en-US" sz="10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756400" y="4279900"/>
            <a:ext cx="63500" cy="63500"/>
          </a:xfrm>
          <a:prstGeom prst="rect">
            <a:avLst/>
          </a:prstGeom>
          <a:solidFill>
            <a:srgbClr val="5EC6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959600" y="4216400"/>
            <a:ext cx="4572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关键用户参加两轮</a:t>
            </a:r>
            <a:r>
              <a:rPr lang="en-US" altLang="zh-CN" sz="10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UAT </a:t>
            </a:r>
            <a:r>
              <a:rPr lang="zh-CN" altLang="en-US" sz="10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与培训</a:t>
            </a:r>
            <a:endParaRPr lang="zh-CN" altLang="en-US" sz="10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756400" y="4838700"/>
            <a:ext cx="63500" cy="63500"/>
          </a:xfrm>
          <a:prstGeom prst="rect">
            <a:avLst/>
          </a:prstGeom>
          <a:solidFill>
            <a:srgbClr val="5EC6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959600" y="4775200"/>
            <a:ext cx="4572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按闸门完成复核、会签与验收</a:t>
            </a:r>
            <a:endParaRPr lang="zh-CN" altLang="en-US" sz="10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711200" y="5892800"/>
            <a:ext cx="10769600" cy="508000"/>
          </a:xfrm>
          <a:prstGeom prst="roundRect">
            <a:avLst/>
          </a:prstGeom>
          <a:solidFill>
            <a:srgbClr val="101E30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965200" y="6032500"/>
            <a:ext cx="1016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变更规则</a:t>
            </a:r>
            <a:endParaRPr lang="zh-CN" altLang="en-US" sz="105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32000" y="5994400"/>
            <a:ext cx="92710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新增业务域、自动化、接口、数据迁移或验收口径变化，均通过书面变更单确认影响、工期和费用；未签署前继续执行原批准范围。</a:t>
            </a:r>
            <a:endParaRPr lang="zh-CN" altLang="en-US" sz="95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1200" y="457200"/>
            <a:ext cx="7620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11 / RISK &amp; BOUNDARY</a:t>
            </a:r>
            <a:endParaRPr lang="en-US" altLang="en-US" sz="105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" y="711200"/>
            <a:ext cx="1076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把丑话说在前面</a:t>
            </a:r>
            <a:endParaRPr lang="zh-CN" altLang="en-US" sz="26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1200" y="1270000"/>
            <a:ext cx="558800" cy="3175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1200" y="1422400"/>
            <a:ext cx="10769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边界清晰，才是对董事会负责。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1200" y="6527800"/>
            <a:ext cx="53340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江南理工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AI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编制优化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43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岗情景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69600" y="6527800"/>
            <a:ext cx="711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12 / 14</a:t>
            </a:r>
            <a:endParaRPr lang="en-US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11200" y="1879600"/>
            <a:ext cx="5283200" cy="1270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39800" y="2057400"/>
            <a:ext cx="2540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补偿不隐藏</a:t>
            </a:r>
            <a:endParaRPr lang="zh-CN" altLang="en-US" sz="13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39800" y="2387600"/>
            <a:ext cx="4826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员工经济补偿单独列示并另行预算，不计入</a:t>
            </a:r>
            <a:r>
              <a:rPr lang="en-US" altLang="zh-CN" sz="10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98 </a:t>
            </a:r>
            <a:r>
              <a:rPr lang="zh-CN" altLang="en-US" sz="10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万项目上限，避免真实成本被低估。</a:t>
            </a:r>
            <a:endParaRPr lang="zh-CN" altLang="en-US" sz="100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197600" y="1879600"/>
            <a:ext cx="5283200" cy="1270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426200" y="2057400"/>
            <a:ext cx="2540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决定权在甲方</a:t>
            </a:r>
            <a:endParaRPr lang="zh-CN" altLang="en-US" sz="13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26200" y="2387600"/>
            <a:ext cx="4826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减不减人、减谁、何时减，均由集团依法决定；个人决定不由乙方作出。</a:t>
            </a:r>
            <a:endParaRPr lang="zh-CN" altLang="en-US" sz="100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711200" y="3327400"/>
            <a:ext cx="5283200" cy="1270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39800" y="3505200"/>
            <a:ext cx="2540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未达标即暂停</a:t>
            </a:r>
            <a:endParaRPr lang="zh-CN" altLang="en-US" sz="13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39800" y="3835400"/>
            <a:ext cx="4826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</a:t>
            </a:r>
            <a:r>
              <a:rPr lang="en-US" altLang="zh-CN" sz="10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 </a:t>
            </a:r>
            <a:r>
              <a:rPr lang="zh-CN" altLang="en-US" sz="10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周产能或质量不达标，岗位调整自动暂停，先整改再放行。</a:t>
            </a:r>
            <a:endParaRPr lang="zh-CN" altLang="en-US" sz="100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197600" y="3327400"/>
            <a:ext cx="5283200" cy="1270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426200" y="3505200"/>
            <a:ext cx="2540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可审计留痕</a:t>
            </a:r>
            <a:endParaRPr lang="zh-CN" altLang="en-US" sz="13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426200" y="3835400"/>
            <a:ext cx="4826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岗位生效日期、空缺冻结、自然流失与月度现金台账均可审计。</a:t>
            </a:r>
            <a:endParaRPr lang="zh-CN" altLang="en-US" sz="100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11200" y="4775200"/>
            <a:ext cx="5283200" cy="1270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939800" y="4953000"/>
            <a:ext cx="2540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情景非决定</a:t>
            </a:r>
            <a:endParaRPr lang="zh-CN" altLang="en-US" sz="13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39800" y="5283200"/>
            <a:ext cx="4826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 </a:t>
            </a:r>
            <a:r>
              <a:rPr lang="zh-CN" altLang="en-US" sz="10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岗为压力测试情景，最终以</a:t>
            </a:r>
            <a:r>
              <a:rPr lang="en-US" altLang="zh-CN" sz="10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WP09 </a:t>
            </a:r>
            <a:r>
              <a:rPr lang="zh-CN" altLang="en-US" sz="10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四方会签的定编方案为准。</a:t>
            </a:r>
            <a:endParaRPr lang="zh-CN" altLang="en-US" sz="100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6197600" y="4775200"/>
            <a:ext cx="5283200" cy="12700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426200" y="4953000"/>
            <a:ext cx="2540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3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数据合规</a:t>
            </a:r>
            <a:endParaRPr lang="zh-CN" altLang="en-US" sz="13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426200" y="5283200"/>
            <a:ext cx="48260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00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数据权限在启动会确认；敏感等级与版本由甲方内容负责人把关。</a:t>
            </a:r>
            <a:endParaRPr lang="zh-CN" altLang="en-US" sz="1000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11200" y="6197600"/>
            <a:ext cx="10769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回退机制：任一闸门未通过，可按合同约定终止后续阶段，仅结算已验收工作包。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1200" y="457200"/>
            <a:ext cx="7620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05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12 / DECISION REQUEST</a:t>
            </a:r>
            <a:endParaRPr lang="en-US" altLang="en-US" sz="105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1200" y="711200"/>
            <a:ext cx="1076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请董事会决策三件事</a:t>
            </a:r>
            <a:endParaRPr lang="zh-CN" altLang="en-US" sz="26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1200" y="1270000"/>
            <a:ext cx="558800" cy="3175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11200" y="1422400"/>
            <a:ext cx="10769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均为书面决议，可直接写入会议纪要。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1200" y="6527800"/>
            <a:ext cx="53340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江南理工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AI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编制优化</a:t>
            </a:r>
            <a:r>
              <a:rPr lang="en-US" altLang="zh-CN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43 </a:t>
            </a:r>
            <a:r>
              <a:rPr lang="zh-CN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岗情景</a:t>
            </a:r>
            <a:endParaRPr lang="zh-CN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69600" y="6527800"/>
            <a:ext cx="711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13 / 14</a:t>
            </a:r>
            <a:endParaRPr lang="en-US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11200" y="1879600"/>
            <a:ext cx="10769600" cy="12192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65200" y="2082800"/>
            <a:ext cx="1270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决议一</a:t>
            </a:r>
            <a:endParaRPr lang="zh-CN" altLang="en-US" sz="11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65200" y="2387600"/>
            <a:ext cx="5080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批准启动</a:t>
            </a:r>
            <a:r>
              <a:rPr lang="en-US" altLang="zh-CN" sz="1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90 </a:t>
            </a:r>
            <a:r>
              <a:rPr lang="zh-CN" altLang="en-US" sz="1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天试点</a:t>
            </a:r>
            <a:endParaRPr lang="zh-CN" altLang="en-US" sz="16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969000" y="2159000"/>
            <a:ext cx="5207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68 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万专业服务费签署合同，首付款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20%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13.6 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万），第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1–2 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周完成基线诊断。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711200" y="3251200"/>
            <a:ext cx="10769600" cy="12192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65200" y="3454400"/>
            <a:ext cx="1270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决议二</a:t>
            </a:r>
            <a:endParaRPr lang="zh-CN" altLang="en-US" sz="11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65200" y="3759200"/>
            <a:ext cx="5080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确认项目预算上限</a:t>
            </a:r>
            <a:r>
              <a:rPr lang="en-US" altLang="zh-CN" sz="1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98 </a:t>
            </a:r>
            <a:r>
              <a:rPr lang="zh-CN" altLang="en-US" sz="1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sz="16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969000" y="3530600"/>
            <a:ext cx="5207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专业服务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68 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软件许可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 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集成预备金</a:t>
            </a:r>
            <a:r>
              <a:rPr lang="en-US" altLang="zh-CN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</a:t>
            </a:r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万；软件按实际采购控制。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711200" y="4622800"/>
            <a:ext cx="10769600" cy="1219200"/>
          </a:xfrm>
          <a:prstGeom prst="roundRect">
            <a:avLst/>
          </a:prstGeom>
          <a:solidFill>
            <a:srgbClr val="0D1826"/>
          </a:solidFill>
          <a:ln w="9525">
            <a:solidFill>
              <a:srgbClr val="26394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65200" y="4826000"/>
            <a:ext cx="1270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</a:rPr>
              <a:t>决议三</a:t>
            </a:r>
            <a:endParaRPr lang="zh-CN" altLang="en-US" sz="11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65200" y="5130800"/>
            <a:ext cx="5080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</a:rPr>
              <a:t>任命项目发起人与接口人</a:t>
            </a:r>
            <a:endParaRPr lang="zh-CN" altLang="en-US" sz="16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969000" y="4902200"/>
            <a:ext cx="52070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明确发起人、项目经理与各部门接口人，授权数据范围与会议机制。</a:t>
            </a:r>
            <a:endParaRPr lang="zh-CN" altLang="en-US" sz="10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11200" y="6019800"/>
            <a:ext cx="10769600" cy="431800"/>
          </a:xfrm>
          <a:prstGeom prst="roundRect">
            <a:avLst/>
          </a:prstGeom>
          <a:solidFill>
            <a:srgbClr val="101E30"/>
          </a:solidFill>
          <a:ln w="9525">
            <a:solidFill>
              <a:srgbClr val="80F5C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965200" y="6134100"/>
            <a:ext cx="10261600" cy="1612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0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通过后</a:t>
            </a:r>
            <a:r>
              <a:rPr lang="en-US" altLang="zh-CN" sz="10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15 </a:t>
            </a:r>
            <a:r>
              <a:rPr lang="zh-CN" altLang="en-US" sz="10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个工作日出《</a:t>
            </a:r>
            <a:r>
              <a:rPr lang="en-US" altLang="zh-CN" sz="10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 </a:t>
            </a:r>
            <a:r>
              <a:rPr lang="zh-CN" altLang="en-US" sz="10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人岗位底账》与《任务工时基线》，</a:t>
            </a:r>
            <a:r>
              <a:rPr lang="en-US" altLang="zh-CN" sz="10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 </a:t>
            </a:r>
            <a:r>
              <a:rPr lang="zh-CN" altLang="en-US" sz="105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天后带着产能数据回到董事会。</a:t>
            </a:r>
            <a:endParaRPr lang="zh-CN" altLang="en-US" sz="1050" b="1">
              <a:solidFill>
                <a:srgbClr val="5EC6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D1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11200" y="2159000"/>
            <a:ext cx="558800" cy="38100"/>
          </a:xfrm>
          <a:prstGeom prst="rect">
            <a:avLst/>
          </a:prstGeom>
          <a:solidFill>
            <a:srgbClr val="80F5C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11200" y="2489200"/>
            <a:ext cx="109220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 </a:t>
            </a:r>
            <a:r>
              <a:rPr lang="zh-CN" altLang="en-US" sz="3600" b="1">
                <a:solidFill>
                  <a:srgbClr val="EAF3F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天证明价值，</a:t>
            </a:r>
            <a:endParaRPr lang="zh-CN" altLang="en-US" sz="3600" b="1">
              <a:solidFill>
                <a:srgbClr val="EAF3F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1200" y="3200400"/>
            <a:ext cx="109220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6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</a:t>
            </a:r>
            <a:r>
              <a:rPr lang="zh-CN" altLang="en-US" sz="3600" b="1">
                <a:solidFill>
                  <a:srgbClr val="80F5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个月完成兑现。</a:t>
            </a:r>
            <a:endParaRPr lang="zh-CN" altLang="en-US" sz="3600" b="1">
              <a:solidFill>
                <a:srgbClr val="80F5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1200" y="4191000"/>
            <a:ext cx="7620000" cy="168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10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完整情景、交互测算与全部交付物：</a:t>
            </a:r>
            <a:endParaRPr lang="zh-CN" altLang="en-US" sz="110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1200" y="4495800"/>
            <a:ext cx="8890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300" b="1">
                <a:solidFill>
                  <a:srgbClr val="5EC6F5"/>
                </a:solidFill>
                <a:latin typeface="微软雅黑" panose="020B0503020204020204" charset="-122"/>
                <a:ea typeface="微软雅黑" panose="020B0503020204020204" charset="-122"/>
              </a:rPr>
              <a:t>https://zhilin1719-hue.github.io/jiangnan-ai-workforce/</a:t>
            </a:r>
            <a:endParaRPr lang="en-US" altLang="en-US" sz="1300" b="1">
              <a:solidFill>
                <a:srgbClr val="5EC6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1200" y="5334000"/>
            <a:ext cx="10769600" cy="12700"/>
          </a:xfrm>
          <a:prstGeom prst="rect">
            <a:avLst/>
          </a:prstGeom>
          <a:solidFill>
            <a:srgbClr val="26394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11200" y="5511800"/>
            <a:ext cx="107696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广东江南理工教育集团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AI </a:t>
            </a:r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编制优化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43 </a:t>
            </a:r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岗情景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战略讨论稿（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</a:t>
            </a:r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 </a:t>
            </a:r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月）</a:t>
            </a:r>
            <a:endParaRPr lang="zh-CN" altLang="en-US" sz="9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1200" y="5765800"/>
            <a:ext cx="10769600" cy="146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9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本材料非集团官方公告；情景数字为压力测试，不构成对任何岗位或人员的决定。</a:t>
            </a:r>
            <a:endParaRPr lang="zh-CN" altLang="en-US" sz="9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769600" y="6527800"/>
            <a:ext cx="711200" cy="130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850">
                <a:solidFill>
                  <a:srgbClr val="8FA6B8"/>
                </a:solidFill>
                <a:latin typeface="微软雅黑" panose="020B0503020204020204" charset="-122"/>
                <a:ea typeface="微软雅黑" panose="020B0503020204020204" charset="-122"/>
              </a:rPr>
              <a:t>14 / 14</a:t>
            </a:r>
            <a:endParaRPr lang="en-US" altLang="en-US" sz="850">
              <a:solidFill>
                <a:srgbClr val="8FA6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4554</Words>
  <Application>WPS 演示</Application>
  <PresentationFormat>宽屏</PresentationFormat>
  <Paragraphs>616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EDY</dc:creator>
  <cp:lastModifiedBy>王志林</cp:lastModifiedBy>
  <cp:revision>157</cp:revision>
  <dcterms:created xsi:type="dcterms:W3CDTF">2019-06-19T02:08:00Z</dcterms:created>
  <dcterms:modified xsi:type="dcterms:W3CDTF">2026-09-19T13:47:03Z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491843126521402CBC5D01E01FED2B79_11</vt:lpwstr>
  </property>
</Properties>
</file>